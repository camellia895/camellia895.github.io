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s/slide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8.xml" ContentType="application/vnd.openxmlformats-officedocument.presentationml.slide+xml"/>
  <Override PartName="/ppt/slideLayouts/slideLayout8.xml" ContentType="application/vnd.openxmlformats-officedocument.presentationml.slideLayou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fa161b9f4324d79" /><Relationship Type="http://schemas.openxmlformats.org/officeDocument/2006/relationships/extended-properties" Target="/docProps/app.xml" Id="rId2" /><Relationship Type="http://schemas.openxmlformats.org/package/2006/relationships/metadata/core-properties" Target="/docProps/core.xml" Id="Rfd58201ad1a84d64" /><Relationship Type="http://schemas.openxmlformats.org/officeDocument/2006/relationships/custom-properties" Target="/docProps/custom.xml" Id="Rd464420bf6cb4dc8" 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0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/ppt/presProps.xml" Id="rId1" /><Relationship Type="http://schemas.openxmlformats.org/officeDocument/2006/relationships/viewProps" Target="/ppt/viewProps.xml" Id="rId2" /><Relationship Type="http://schemas.openxmlformats.org/officeDocument/2006/relationships/theme" Target="/ppt/theme/theme1.xml" Id="rId3" /><Relationship Type="http://schemas.openxmlformats.org/officeDocument/2006/relationships/tableStyles" Target="/ppt/tableStyles.xml" Id="rId4" /><Relationship Type="http://schemas.openxmlformats.org/officeDocument/2006/relationships/slideMaster" Target="/ppt/slideMasters/slideMaster1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2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3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4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5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6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8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Id2" /><Relationship Type="http://schemas.openxmlformats.org/officeDocument/2006/relationships/slideLayout" Target="/ppt/slideLayouts/slideLayout2.xml" Id="rId3" /><Relationship Type="http://schemas.openxmlformats.org/officeDocument/2006/relationships/slideLayout" Target="/ppt/slideLayouts/slideLayout3.xml" Id="rId4" /><Relationship Type="http://schemas.openxmlformats.org/officeDocument/2006/relationships/slideLayout" Target="/ppt/slideLayouts/slideLayout4.xml" Id="rId5" /><Relationship Type="http://schemas.openxmlformats.org/officeDocument/2006/relationships/slideLayout" Target="/ppt/slideLayouts/slideLayout5.xml" Id="rId6" /><Relationship Type="http://schemas.openxmlformats.org/officeDocument/2006/relationships/slideLayout" Target="/ppt/slideLayouts/slideLayout6.xml" Id="rId7" /><Relationship Type="http://schemas.openxmlformats.org/officeDocument/2006/relationships/slideLayout" Target="/ppt/slideLayouts/slideLayout7.xml" Id="rId8" /><Relationship Type="http://schemas.openxmlformats.org/officeDocument/2006/relationships/slideLayout" Target="/ppt/slideLayouts/slideLayout8.xml" Id="rId9" 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735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image" Target="/ppt/media/image2.png" Id="rId3" /><Relationship Type="http://schemas.openxmlformats.org/officeDocument/2006/relationships/image" Target="/ppt/media/image3.png" Id="rId4" /><Relationship Type="http://schemas.openxmlformats.org/officeDocument/2006/relationships/image" Target="/ppt/media/image4.png" Id="rI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Id1" /><Relationship Type="http://schemas.openxmlformats.org/officeDocument/2006/relationships/image" Target="/ppt/media/image5.png" Id="rId2" /><Relationship Type="http://schemas.openxmlformats.org/officeDocument/2006/relationships/image" Target="/ppt/media/image6.png" Id="rId3" /><Relationship Type="http://schemas.openxmlformats.org/officeDocument/2006/relationships/image" Target="/ppt/media/image7.png" Id="rI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Id1" /><Relationship Type="http://schemas.openxmlformats.org/officeDocument/2006/relationships/image" Target="/ppt/media/image8.png" Id="rId2" /><Relationship Type="http://schemas.openxmlformats.org/officeDocument/2006/relationships/image" Target="/ppt/media/image9.png" Id="rI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Id1" /><Relationship Type="http://schemas.openxmlformats.org/officeDocument/2006/relationships/image" Target="/ppt/media/image10.png" Id="rId2" /><Relationship Type="http://schemas.openxmlformats.org/officeDocument/2006/relationships/image" Target="/ppt/media/image11.png" Id="rI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Id1" /><Relationship Type="http://schemas.openxmlformats.org/officeDocument/2006/relationships/image" Target="/ppt/media/image12.png" Id="rId2" /><Relationship Type="http://schemas.openxmlformats.org/officeDocument/2006/relationships/image" Target="/ppt/media/image13.png" Id="rI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Id1" /><Relationship Type="http://schemas.openxmlformats.org/officeDocument/2006/relationships/image" Target="/ppt/media/image14.png" Id="rI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Relationship Type="http://schemas.openxmlformats.org/officeDocument/2006/relationships/image" Target="/ppt/media/image15.png" Id="rId2" /><Relationship Type="http://schemas.openxmlformats.org/officeDocument/2006/relationships/image" Target="/ppt/media/image16.png" Id="rId3" /><Relationship Type="http://schemas.openxmlformats.org/officeDocument/2006/relationships/image" Target="/ppt/media/image17.png" Id="rId4" /><Relationship Type="http://schemas.openxmlformats.org/officeDocument/2006/relationships/image" Target="/ppt/media/image18.png" Id="rId5" /><Relationship Type="http://schemas.openxmlformats.org/officeDocument/2006/relationships/image" Target="/ppt/media/image19.png" Id="rId6" /><Relationship Type="http://schemas.openxmlformats.org/officeDocument/2006/relationships/image" Target="/ppt/media/image20.png" Id="rId7" /><Relationship Type="http://schemas.openxmlformats.org/officeDocument/2006/relationships/image" Target="/ppt/media/image21.png" Id="rId8" /><Relationship Type="http://schemas.openxmlformats.org/officeDocument/2006/relationships/image" Target="/ppt/media/image22.png" Id="rId9" /><Relationship Type="http://schemas.openxmlformats.org/officeDocument/2006/relationships/image" Target="/ppt/media/image23.png" Id="rId10" /><Relationship Type="http://schemas.openxmlformats.org/officeDocument/2006/relationships/image" Target="/ppt/media/image24.png" Id="rId11" /><Relationship Type="http://schemas.openxmlformats.org/officeDocument/2006/relationships/image" Target="/ppt/media/image25.png" Id="rId12" /><Relationship Type="http://schemas.openxmlformats.org/officeDocument/2006/relationships/image" Target="/ppt/media/image26.png" Id="rId13" /><Relationship Type="http://schemas.openxmlformats.org/officeDocument/2006/relationships/image" Target="/ppt/media/image27.png" Id="rId14" /><Relationship Type="http://schemas.openxmlformats.org/officeDocument/2006/relationships/image" Target="/ppt/media/image28.png" Id="rId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Id1" /><Relationship Type="http://schemas.openxmlformats.org/officeDocument/2006/relationships/image" Target="/ppt/media/image29.png" Id="rId2" /><Relationship Type="http://schemas.openxmlformats.org/officeDocument/2006/relationships/image" Target="/ppt/media/image30.png" Id="rId3" /></Relationships>
</file>

<file path=ppt/slides/slide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-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31" y="209550"/>
            <a:ext cx="11545973" cy="6210300"/>
          </a:xfrm>
          <a:prstGeom prst="rect">
            <a:avLst/>
          </a:prstGeom>
        </p:spPr>
      </p:pic>
      <p:pic>
        <p:nvPicPr>
          <p:cNvPr id="4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1240" y="2729132"/>
            <a:ext cx="3220760" cy="4128868"/>
          </a:xfrm>
          <a:prstGeom prst="rect">
            <a:avLst/>
          </a:prstGeom>
        </p:spPr>
      </p:pic>
      <p:pic>
        <p:nvPicPr>
          <p:cNvPr id="5" name="图片3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473543"/>
            <a:ext cx="3074796" cy="3587262"/>
          </a:xfrm>
          <a:prstGeom prst="rect">
            <a:avLst/>
          </a:prstGeom>
        </p:spPr>
      </p:pic>
      <p:sp>
        <p:nvSpPr>
          <p:cNvPr id="6" name="文本1"/>
          <p:cNvSpPr txBox="1"/>
          <p:nvPr/>
        </p:nvSpPr>
        <p:spPr>
          <a:xfrm>
            <a:off x="-143510" y="6590455"/>
            <a:ext cx="1250951" cy="467499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1400"/>
              </a:lnSpc>
            </a:pPr>
            <a:r>
              <a:rPr lang="zh-CN" altLang="en-US" sz="1200" b="0" i="0" dirty="0">
                <a:solidFill>
                  <a:srgbClr val="21B8BB">
                    <a:alpha val="100000"/>
                  </a:srgbClr>
                </a:solidFill>
                <a:latin typeface="楷体"/>
                <a:ea typeface="楷体"/>
              </a:rPr>
              <a:t>状元成才路</a:t>
            </a:r>
          </a:p>
        </p:txBody>
      </p:sp>
      <p:pic>
        <p:nvPicPr>
          <p:cNvPr id="7" name="图片4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401" y="6633634"/>
            <a:ext cx="1064684" cy="351367"/>
          </a:xfrm>
          <a:prstGeom prst="rect">
            <a:avLst/>
          </a:prstGeom>
        </p:spPr>
      </p:pic>
      <p:grpSp>
        <p:nvGrpSpPr>
          <p:cNvPr id="8" name="组合1"/>
          <p:cNvGrpSpPr/>
          <p:nvPr/>
        </p:nvGrpSpPr>
        <p:grpSpPr>
          <a:xfrm>
            <a:off x="0" y="0"/>
            <a:ext cx="10243130" cy="2843443"/>
            <a:chOff x="0" y="0"/>
            <a:chExt cx="10243130" cy="2843443"/>
          </a:xfrm>
        </p:grpSpPr>
        <p:sp>
          <p:nvSpPr>
            <p:cNvPr id="9" name="文本4"/>
            <p:cNvSpPr txBox="1"/>
            <p:nvPr/>
          </p:nvSpPr>
          <p:spPr>
            <a:xfrm>
              <a:off x="3134432" y="1729613"/>
              <a:ext cx="7108698" cy="1113830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ctr">
                <a:lnSpc>
                  <a:spcPts val="6500"/>
                </a:lnSpc>
              </a:pPr>
              <a:r>
                <a:rPr lang="zh-CN" altLang="en-US" sz="5400" b="1" i="0" dirty="0">
                  <a:solidFill>
                    <a:srgbClr val="000000">
                      <a:alpha val="100000"/>
                    </a:srgbClr>
                  </a:solidFill>
                  <a:latin typeface="宋体"/>
                  <a:ea typeface="宋体"/>
                </a:rPr>
                <a:t>万以内的加法和减法</a:t>
              </a:r>
            </a:p>
          </p:txBody>
        </p:sp>
        <p:sp>
          <p:nvSpPr>
            <p:cNvPr id="10" name="形状2"/>
            <p:cNvSpPr txBox="1"/>
            <p:nvPr/>
          </p:nvSpPr>
          <p:spPr>
            <a:xfrm>
              <a:off x="0" y="63961"/>
              <a:ext cx="1080000" cy="1080000"/>
            </a:xfrm>
            <a:prstGeom prst="ellipse"/>
            <a:solidFill>
              <a:srgbClr val="0079A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  <a:effectLst>
              <a:outerShdw blurRad="0" dist="63500" dir="13500000" rotWithShape="0">
                <a:srgbClr val="000000">
                  <a:alpha val="40000"/>
                </a:srgbClr>
              </a:outerShdw>
            </a:effectLst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1" name="文本5"/>
            <p:cNvSpPr txBox="1"/>
            <p:nvPr/>
          </p:nvSpPr>
          <p:spPr>
            <a:xfrm>
              <a:off x="154352" y="0"/>
              <a:ext cx="967391" cy="110886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7200"/>
                </a:lnSpc>
              </a:pPr>
              <a:r>
                <a:rPr lang="zh-CN" altLang="en-US" sz="6000" b="1" i="0" dirty="0">
                  <a:solidFill>
                    <a:srgbClr val="FFFFFF">
                      <a:alpha val="100000"/>
                    </a:srgbClr>
                  </a:solidFill>
                  <a:effectLst>
                    <a:outerShdw blurRad="38100" dist="38100" dir="2700000" rotWithShape="0">
                      <a:srgbClr val="000000">
                        <a:alpha val="43137"/>
                      </a:srgbClr>
                    </a:outerShdw>
                  </a:effectLst>
                  <a:latin typeface="宋体"/>
                  <a:ea typeface="宋体"/>
                </a:rPr>
                <a:t>四</a:t>
              </a:r>
            </a:p>
          </p:txBody>
        </p:sp>
      </p:grpSp>
      <p:sp>
        <p:nvSpPr>
          <p:cNvPr id="12" name="文本2"/>
          <p:cNvSpPr txBox="1"/>
          <p:nvPr/>
        </p:nvSpPr>
        <p:spPr>
          <a:xfrm>
            <a:off x="208461" y="136971"/>
            <a:ext cx="2898710" cy="590610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2400"/>
              </a:lnSpc>
            </a:pPr>
            <a:r>
              <a:rPr lang="zh-CN" altLang="en-US" sz="2000" b="0" i="0" dirty="0">
                <a:solidFill>
                  <a:srgbClr val="FFFFFF">
                    <a:alpha val="100000"/>
                  </a:srgbClr>
                </a:solidFill>
                <a:effectLst>
                  <a:outerShdw blurRad="0" dist="63500" dir="2700000" rotWithShape="0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</a:rPr>
              <a:t>R·二年级数学下册</a:t>
            </a:r>
          </a:p>
        </p:txBody>
      </p:sp>
      <p:sp>
        <p:nvSpPr>
          <p:cNvPr id="13" name="文本3"/>
          <p:cNvSpPr txBox="1"/>
          <p:nvPr/>
        </p:nvSpPr>
        <p:spPr>
          <a:xfrm>
            <a:off x="1262224" y="3155118"/>
            <a:ext cx="9672953" cy="129849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8600"/>
              </a:lnSpc>
            </a:pPr>
            <a:r>
              <a:rPr lang="zh-CN" altLang="en-US" sz="7200" b="1" i="0" dirty="0">
                <a:solidFill>
                  <a:srgbClr val="22C0C4">
                    <a:alpha val="100000"/>
                  </a:srgbClr>
                </a:solidFill>
                <a:effectLst>
                  <a:outerShdw blurRad="0" dist="63500" dir="2700000" rotWithShape="0">
                    <a:srgbClr val="000000">
                      <a:alpha val="43137"/>
                    </a:srgbClr>
                  </a:outerShdw>
                </a:effectLst>
                <a:latin typeface="微软雅黑"/>
                <a:ea typeface="微软雅黑"/>
              </a:rPr>
              <a:t>数独游戏</a:t>
            </a:r>
          </a:p>
        </p:txBody>
      </p: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</p:sld>
</file>

<file path=ppt/slides/slide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游戏导入</a:t>
            </a:r>
          </a:p>
        </p:txBody>
      </p:sp>
      <p:sp>
        <p:nvSpPr>
          <p:cNvPr id="10" name="文本2"/>
          <p:cNvSpPr txBox="1"/>
          <p:nvPr/>
        </p:nvSpPr>
        <p:spPr>
          <a:xfrm>
            <a:off x="781600" y="1219230"/>
            <a:ext cx="10757674" cy="1471300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楷体"/>
                <a:ea typeface="楷体"/>
              </a:rPr>
              <a:t>规则：下面的方格中只能填</a:t>
            </a:r>
            <a:r>
              <a:rPr lang="zh-CN" altLang="en-US" sz="3600" b="1" i="0" dirty="0">
                <a:solidFill>
                  <a:srgbClr val="000000">
                    <a:alpha val="100000"/>
                  </a:srgbClr>
                </a:solidFill>
                <a:latin typeface="楷体"/>
                <a:ea typeface="楷体"/>
              </a:rPr>
              <a:t>1~4</a:t>
            </a: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楷体"/>
                <a:ea typeface="楷体"/>
              </a:rPr>
              <a:t>这四个数，每个数只能用一次。</a:t>
            </a:r>
          </a:p>
        </p:txBody>
      </p:sp>
      <p:graphicFrame>
        <p:nvGraphicFramePr>
          <p:cNvPr id="11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907840" y="2845495"/>
          <a:ext cx="3187224" cy="799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99529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A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2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536600" y="2845495"/>
          <a:ext cx="3187224" cy="799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99529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A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3" name="表格3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8165360" y="2845495"/>
          <a:ext cx="3187224" cy="799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99529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A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4" name="文本3"/>
          <p:cNvSpPr txBox="1"/>
          <p:nvPr/>
        </p:nvSpPr>
        <p:spPr>
          <a:xfrm>
            <a:off x="2101598" y="3628963"/>
            <a:ext cx="982588" cy="850809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①</a:t>
            </a:r>
          </a:p>
        </p:txBody>
      </p:sp>
      <p:sp>
        <p:nvSpPr>
          <p:cNvPr id="15" name="文本4"/>
          <p:cNvSpPr txBox="1"/>
          <p:nvPr/>
        </p:nvSpPr>
        <p:spPr>
          <a:xfrm>
            <a:off x="5730358" y="3628963"/>
            <a:ext cx="982588" cy="850809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②</a:t>
            </a:r>
          </a:p>
        </p:txBody>
      </p:sp>
      <p:sp>
        <p:nvSpPr>
          <p:cNvPr id="16" name="文本5"/>
          <p:cNvSpPr txBox="1"/>
          <p:nvPr/>
        </p:nvSpPr>
        <p:spPr>
          <a:xfrm>
            <a:off x="9359118" y="3628963"/>
            <a:ext cx="982588" cy="850809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③</a:t>
            </a:r>
          </a:p>
        </p:txBody>
      </p:sp>
      <p:pic>
        <p:nvPicPr>
          <p:cNvPr id="17" name="图片3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392" y="4306720"/>
            <a:ext cx="1903074" cy="2045185"/>
          </a:xfrm>
          <a:prstGeom prst="rect">
            <a:avLst/>
          </a:prstGeom>
        </p:spPr>
      </p:pic>
      <p:grpSp>
        <p:nvGrpSpPr>
          <p:cNvPr id="18" name="组合2"/>
          <p:cNvGrpSpPr/>
          <p:nvPr/>
        </p:nvGrpSpPr>
        <p:grpSpPr>
          <a:xfrm>
            <a:off x="4423308" y="4554501"/>
            <a:ext cx="5043488" cy="729134"/>
            <a:chOff x="0" y="0"/>
            <a:chExt cx="5043488" cy="729134"/>
          </a:xfrm>
        </p:grpSpPr>
        <p:sp>
          <p:nvSpPr>
            <p:cNvPr id="19" name="形状5"/>
            <p:cNvSpPr txBox="1"/>
            <p:nvPr/>
          </p:nvSpPr>
          <p:spPr>
            <a:xfrm>
              <a:off x="0" y="26627"/>
              <a:ext cx="4949056" cy="646331"/>
            </a:xfrm>
            <a:prstGeom prst="wedgeRoundRectCallout"/>
            <a:solidFill>
              <a:srgbClr val="FFFFFF">
                <a:alpha val="100000"/>
              </a:srgbClr>
            </a:solidFill>
            <a:ln w="19050">
              <a:solidFill>
                <a:srgbClr val="3399FF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20" name="文本9"/>
            <p:cNvSpPr txBox="1"/>
            <p:nvPr/>
          </p:nvSpPr>
          <p:spPr>
            <a:xfrm>
              <a:off x="5134" y="0"/>
              <a:ext cx="5038354" cy="729134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l">
                <a:lnSpc>
                  <a:spcPts val="4200"/>
                </a:lnSpc>
              </a:pPr>
              <a:r>
                <a:rPr lang="zh-CN" altLang="en-US" sz="3200" b="1" i="0" dirty="0">
                  <a:solidFill>
                    <a:srgbClr val="000000">
                      <a:alpha val="100000"/>
                    </a:srgbClr>
                  </a:solidFill>
                  <a:latin typeface="楷体"/>
                  <a:ea typeface="楷体"/>
                </a:rPr>
                <a:t>哪个选项A只有一个可能？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游戏导入</a:t>
            </a:r>
          </a:p>
        </p:txBody>
      </p:sp>
      <p:sp>
        <p:nvSpPr>
          <p:cNvPr id="10" name="文本2"/>
          <p:cNvSpPr txBox="1"/>
          <p:nvPr/>
        </p:nvSpPr>
        <p:spPr>
          <a:xfrm>
            <a:off x="716823" y="980323"/>
            <a:ext cx="6395228" cy="2548060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6000"/>
              </a:lnSpc>
            </a:pP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用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1~3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填满右边的的方格，要使每行、每列以及每个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   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都要用到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1~3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，且不能重复。</a:t>
            </a:r>
          </a:p>
        </p:txBody>
      </p:sp>
      <p:graphicFrame>
        <p:nvGraphicFramePr>
          <p:cNvPr id="11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7414492" y="1752752"/>
          <a:ext cx="3142405" cy="291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4774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2151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5612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38313">
                <a:tc rowSpan="1" gridSpan="1">
                  <a:txBody>
                    <a:bodyPr anchor="t"/>
                    <a:lstStyle/>
                    <a:p>
                      <a:pPr marL="0" algn="ctr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2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7414435" y="1752818"/>
          <a:ext cx="3142405" cy="986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4774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2151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5612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CFA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CFA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CFA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3" name="文本3"/>
          <p:cNvSpPr txBox="1"/>
          <p:nvPr/>
        </p:nvSpPr>
        <p:spPr>
          <a:xfrm>
            <a:off x="10626045" y="1834467"/>
            <a:ext cx="957520" cy="823008"/>
          </a:xfrm>
          <a:prstGeom prst="rect">
            <a:avLst/>
          </a:prstGeom>
          <a:noFill/>
        </p:spPr>
        <p:txBody>
          <a:bodyPr anchor="t"/>
          <a:lstStyle/>
          <a:p>
            <a:pPr marL="0" algn="l"/>
            <a:r>
              <a:rPr lang="zh-CN" altLang="en-US" sz="3899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行</a:t>
            </a:r>
          </a:p>
        </p:txBody>
      </p:sp>
      <p:graphicFrame>
        <p:nvGraphicFramePr>
          <p:cNvPr id="14" name="表格3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7368524" y="1753123"/>
          <a:ext cx="1117740" cy="2910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74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2FFDB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38313">
                <a:tc rowSpan="1" gridSpan="1">
                  <a:txBody>
                    <a:bodyPr anchor="t"/>
                    <a:lstStyle/>
                    <a:p>
                      <a:pPr marL="0" algn="ctr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2FFDB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86006">
                <a:tc rowSpan="1" gridSpan="1">
                  <a:txBody>
                    <a:bodyPr anchor="ctr"/>
                    <a:lstStyle/>
                    <a:p>
                      <a:pPr marL="0" algn="ctr"/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2FFDB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5" name="文本4"/>
          <p:cNvSpPr txBox="1"/>
          <p:nvPr/>
        </p:nvSpPr>
        <p:spPr>
          <a:xfrm>
            <a:off x="7561034" y="1012335"/>
            <a:ext cx="957520" cy="823008"/>
          </a:xfrm>
          <a:prstGeom prst="rect">
            <a:avLst/>
          </a:prstGeom>
          <a:noFill/>
        </p:spPr>
        <p:txBody>
          <a:bodyPr anchor="t"/>
          <a:lstStyle/>
          <a:p>
            <a:pPr marL="0" algn="l"/>
            <a:r>
              <a:rPr lang="zh-CN" altLang="en-US" sz="3899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列</a:t>
            </a:r>
          </a:p>
        </p:txBody>
      </p: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7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8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形状3"/>
          <p:cNvSpPr txBox="1"/>
          <p:nvPr/>
        </p:nvSpPr>
        <p:spPr>
          <a:xfrm>
            <a:off x="10394269" y="3429080"/>
            <a:ext cx="720000" cy="720000"/>
          </a:xfrm>
          <a:prstGeom prst="rect"/>
          <a:solidFill>
            <a:srgbClr val="9900FF">
              <a:alpha val="74901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sp>
        <p:nvSpPr>
          <p:cNvPr id="10" name="形状4"/>
          <p:cNvSpPr txBox="1"/>
          <p:nvPr/>
        </p:nvSpPr>
        <p:spPr>
          <a:xfrm>
            <a:off x="8232780" y="1989080"/>
            <a:ext cx="2880000" cy="720000"/>
          </a:xfrm>
          <a:prstGeom prst="rect"/>
          <a:solidFill>
            <a:srgbClr val="22C0C4">
              <a:alpha val="74901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sp>
        <p:nvSpPr>
          <p:cNvPr id="11" name="形状5"/>
          <p:cNvSpPr txBox="1"/>
          <p:nvPr/>
        </p:nvSpPr>
        <p:spPr>
          <a:xfrm rot="5400000">
            <a:off x="7873897" y="2348921"/>
            <a:ext cx="2880000" cy="720000"/>
          </a:xfrm>
          <a:prstGeom prst="rect"/>
          <a:solidFill>
            <a:srgbClr val="FFF2CC">
              <a:alpha val="74901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sp>
        <p:nvSpPr>
          <p:cNvPr id="12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探索新知</a:t>
            </a:r>
          </a:p>
        </p:txBody>
      </p:sp>
      <p:sp>
        <p:nvSpPr>
          <p:cNvPr id="13" name="文本2"/>
          <p:cNvSpPr txBox="1"/>
          <p:nvPr/>
        </p:nvSpPr>
        <p:spPr>
          <a:xfrm>
            <a:off x="588280" y="899304"/>
            <a:ext cx="7535316" cy="2686757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6500"/>
              </a:lnSpc>
            </a:pP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        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用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1~4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填满右边的方格，要使每行、每列以及每个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          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（宫）都要用到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1~4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，且不能重复。</a:t>
            </a:r>
          </a:p>
        </p:txBody>
      </p:sp>
      <p:graphicFrame>
        <p:nvGraphicFramePr>
          <p:cNvPr id="14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552530" y="1812930"/>
          <a:ext cx="936000" cy="9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468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468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5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8233525" y="126908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6" name="文本3"/>
          <p:cNvSpPr txBox="1"/>
          <p:nvPr/>
        </p:nvSpPr>
        <p:spPr>
          <a:xfrm>
            <a:off x="10426492" y="4106768"/>
            <a:ext cx="838434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9900FF">
                    <a:alpha val="100000"/>
                  </a:srgbClr>
                </a:solidFill>
                <a:latin typeface="楷体"/>
                <a:ea typeface="楷体"/>
              </a:rPr>
              <a:t>格</a:t>
            </a:r>
          </a:p>
        </p:txBody>
      </p:sp>
      <p:sp>
        <p:nvSpPr>
          <p:cNvPr id="17" name="文本4"/>
          <p:cNvSpPr txBox="1"/>
          <p:nvPr/>
        </p:nvSpPr>
        <p:spPr>
          <a:xfrm>
            <a:off x="11105214" y="1961082"/>
            <a:ext cx="942456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1CA1A4">
                    <a:alpha val="100000"/>
                  </a:srgbClr>
                </a:solidFill>
                <a:latin typeface="楷体"/>
                <a:ea typeface="楷体"/>
              </a:rPr>
              <a:t>行</a:t>
            </a:r>
          </a:p>
        </p:txBody>
      </p:sp>
      <p:sp>
        <p:nvSpPr>
          <p:cNvPr id="18" name="文本5"/>
          <p:cNvSpPr txBox="1"/>
          <p:nvPr/>
        </p:nvSpPr>
        <p:spPr>
          <a:xfrm>
            <a:off x="8976320" y="541341"/>
            <a:ext cx="942456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ED7D31">
                    <a:alpha val="100000"/>
                  </a:srgbClr>
                </a:solidFill>
                <a:latin typeface="楷体"/>
                <a:ea typeface="楷体"/>
              </a:rPr>
              <a:t>列</a:t>
            </a:r>
          </a:p>
        </p:txBody>
      </p:sp>
      <p:sp>
        <p:nvSpPr>
          <p:cNvPr id="19" name="形状6"/>
          <p:cNvSpPr txBox="1"/>
          <p:nvPr/>
        </p:nvSpPr>
        <p:spPr>
          <a:xfrm>
            <a:off x="8232035" y="2708842"/>
            <a:ext cx="1440000" cy="1440000"/>
          </a:xfrm>
          <a:prstGeom prst="rect"/>
          <a:solidFill>
            <a:srgbClr val="FFFFFF">
              <a:alpha val="0"/>
            </a:srgbClr>
          </a:solidFill>
          <a:ln w="38100">
            <a:solidFill>
              <a:srgbClr val="F00C08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20" name="文本6"/>
          <p:cNvSpPr txBox="1"/>
          <p:nvPr/>
        </p:nvSpPr>
        <p:spPr>
          <a:xfrm>
            <a:off x="8630898" y="4112497"/>
            <a:ext cx="838434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FF0000">
                    <a:alpha val="100000"/>
                  </a:srgbClr>
                </a:solidFill>
                <a:latin typeface="楷体"/>
                <a:ea typeface="楷体"/>
              </a:rPr>
              <a:t>宫</a:t>
            </a:r>
          </a:p>
        </p:txBody>
      </p:sp>
      <p:sp>
        <p:nvSpPr>
          <p:cNvPr id="21" name="文本7"/>
          <p:cNvSpPr txBox="1"/>
          <p:nvPr/>
        </p:nvSpPr>
        <p:spPr>
          <a:xfrm>
            <a:off x="1599050" y="3557387"/>
            <a:ext cx="6311180" cy="859337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5200"/>
              </a:lnSpc>
            </a:pPr>
            <a:r>
              <a:rPr lang="zh-CN" altLang="en-US" sz="3600" b="0" i="0" dirty="0">
                <a:solidFill>
                  <a:srgbClr val="0000FF">
                    <a:alpha val="100000"/>
                  </a:srgbClr>
                </a:solidFill>
                <a:latin typeface="黑体"/>
                <a:ea typeface="黑体"/>
              </a:rPr>
              <a:t>从题目中，你知道了什么？</a:t>
            </a:r>
          </a:p>
        </p:txBody>
      </p: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6" grpId="0" animBg="1"/>
      <p:bldP spid="10" grpId="0" animBg="1"/>
      <p:bldP spid="17" grpId="0" animBg="1"/>
      <p:bldP spid="11" grpId="0" animBg="1"/>
      <p:bldP spid="18" grpId="0" animBg="1"/>
      <p:bldP spid="19" grpId="0" animBg="1"/>
      <p:bldP spid="20" grpId="0" animBg="1"/>
      <p:bldP spid="14" grpId="0" animBg="1"/>
      <p:bldP spid="13" grpId="0" animBg="1"/>
      <p:bldP spid="21" grpId="0" animBg="1"/>
    </p:bldLst>
  </p:timing>
</p:sld>
</file>

<file path=ppt/slides/slide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aphicFrame>
        <p:nvGraphicFramePr>
          <p:cNvPr id="4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1199456" y="198900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pSp>
        <p:nvGrpSpPr>
          <p:cNvPr id="5" name="组合1"/>
          <p:cNvGrpSpPr/>
          <p:nvPr/>
        </p:nvGrpSpPr>
        <p:grpSpPr>
          <a:xfrm>
            <a:off x="695400" y="585913"/>
            <a:ext cx="2568302" cy="867026"/>
            <a:chOff x="0" y="0"/>
            <a:chExt cx="2568302" cy="867026"/>
          </a:xfrm>
        </p:grpSpPr>
        <p:sp>
          <p:nvSpPr>
            <p:cNvPr id="6" name="形状2"/>
            <p:cNvSpPr txBox="1"/>
            <p:nvPr/>
          </p:nvSpPr>
          <p:spPr>
            <a:xfrm>
              <a:off x="0" y="34775"/>
              <a:ext cx="2450233" cy="832251"/>
            </a:xfrm>
            <a:prstGeom prst="roundRect"/>
            <a:solidFill>
              <a:srgbClr val="FAE7A0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7" name="文本1"/>
            <p:cNvSpPr txBox="1"/>
            <p:nvPr/>
          </p:nvSpPr>
          <p:spPr>
            <a:xfrm>
              <a:off x="118069" y="0"/>
              <a:ext cx="2450233" cy="80274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4800"/>
                </a:lnSpc>
              </a:pPr>
              <a:r>
                <a:rPr lang="zh-CN" altLang="en-US" sz="4000" b="1" i="0" dirty="0">
                  <a:solidFill>
                    <a:srgbClr val="037FB7">
                      <a:alpha val="100000"/>
                    </a:srgbClr>
                  </a:solidFill>
                  <a:latin typeface="宋体"/>
                  <a:ea typeface="宋体"/>
                </a:rPr>
                <a:t>试一试</a:t>
              </a:r>
            </a:p>
          </p:txBody>
        </p:sp>
      </p:grpSp>
      <p:pic>
        <p:nvPicPr>
          <p:cNvPr id="8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5454" y="836712"/>
            <a:ext cx="1903074" cy="2045185"/>
          </a:xfrm>
          <a:prstGeom prst="rect">
            <a:avLst/>
          </a:prstGeom>
        </p:spPr>
      </p:pic>
      <p:grpSp>
        <p:nvGrpSpPr>
          <p:cNvPr id="9" name="组合2"/>
          <p:cNvGrpSpPr/>
          <p:nvPr/>
        </p:nvGrpSpPr>
        <p:grpSpPr>
          <a:xfrm>
            <a:off x="4082945" y="983700"/>
            <a:ext cx="4949056" cy="729134"/>
            <a:chOff x="0" y="0"/>
            <a:chExt cx="4949056" cy="729134"/>
          </a:xfrm>
        </p:grpSpPr>
        <p:sp>
          <p:nvSpPr>
            <p:cNvPr id="10" name="形状3"/>
            <p:cNvSpPr txBox="1"/>
            <p:nvPr/>
          </p:nvSpPr>
          <p:spPr>
            <a:xfrm>
              <a:off x="0" y="17979"/>
              <a:ext cx="4949056" cy="646331"/>
            </a:xfrm>
            <a:prstGeom prst="wedgeRoundRectCallout"/>
            <a:solidFill>
              <a:srgbClr val="FFFFFF">
                <a:alpha val="100000"/>
              </a:srgbClr>
            </a:solidFill>
            <a:ln w="19050">
              <a:solidFill>
                <a:srgbClr val="3399FF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1" name="文本2"/>
            <p:cNvSpPr txBox="1"/>
            <p:nvPr/>
          </p:nvSpPr>
          <p:spPr>
            <a:xfrm>
              <a:off x="27741" y="0"/>
              <a:ext cx="4885953" cy="729134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l">
                <a:lnSpc>
                  <a:spcPts val="4200"/>
                </a:lnSpc>
              </a:pPr>
              <a:r>
                <a:rPr lang="zh-CN" altLang="en-US" sz="3200" b="1" i="0" dirty="0">
                  <a:solidFill>
                    <a:srgbClr val="000000">
                      <a:alpha val="100000"/>
                    </a:srgbClr>
                  </a:solidFill>
                  <a:latin typeface="楷体"/>
                  <a:ea typeface="楷体"/>
                </a:rPr>
                <a:t>从哪里入手会比较好填？</a:t>
              </a:r>
            </a:p>
          </p:txBody>
        </p:sp>
      </p:grpSp>
      <p:grpSp>
        <p:nvGrpSpPr>
          <p:cNvPr id="12" name="组合3"/>
          <p:cNvGrpSpPr/>
          <p:nvPr/>
        </p:nvGrpSpPr>
        <p:grpSpPr>
          <a:xfrm>
            <a:off x="4872186" y="3496191"/>
            <a:ext cx="6480720" cy="2360130"/>
            <a:chOff x="0" y="0"/>
            <a:chExt cx="6480720" cy="2360130"/>
          </a:xfrm>
        </p:grpSpPr>
        <p:sp>
          <p:nvSpPr>
            <p:cNvPr id="13" name="形状4"/>
            <p:cNvSpPr txBox="1"/>
            <p:nvPr/>
          </p:nvSpPr>
          <p:spPr>
            <a:xfrm>
              <a:off x="0" y="0"/>
              <a:ext cx="6480720" cy="2360130"/>
            </a:xfrm>
            <a:prstGeom prst="flowChartAlternateProcess"/>
            <a:solidFill>
              <a:srgbClr val="FBE5D6">
                <a:alpha val="100000"/>
              </a:srgbClr>
            </a:solidFill>
            <a:ln w="19050">
              <a:solidFill>
                <a:srgbClr val="3333CC">
                  <a:alpha val="100000"/>
                </a:srgbClr>
              </a:solidFill>
              <a:prstDash val="sysDash"/>
              <a:headEnd type="none" w="med" len="med"/>
              <a:tailEnd type="none" w="med" len="med"/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4" name="文本3"/>
            <p:cNvSpPr txBox="1"/>
            <p:nvPr/>
          </p:nvSpPr>
          <p:spPr>
            <a:xfrm>
              <a:off x="111400" y="65680"/>
              <a:ext cx="6250301" cy="2129711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等线"/>
                  <a:ea typeface="等线"/>
                </a:rPr>
                <a:t>活动要求：</a:t>
              </a:r>
            </a:p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等线"/>
                  <a:ea typeface="等线"/>
                </a:rPr>
                <a:t>1.用你的方法尝试推理，填一填。</a:t>
              </a:r>
            </a:p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等线"/>
                  <a:ea typeface="等线"/>
                </a:rPr>
                <a:t>2.注意黑板上的规则和方法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372170" y="620526"/>
            <a:ext cx="2539835" cy="867026"/>
            <a:chOff x="0" y="0"/>
            <a:chExt cx="2539835" cy="867026"/>
          </a:xfrm>
        </p:grpSpPr>
        <p:sp>
          <p:nvSpPr>
            <p:cNvPr id="5" name="形状2"/>
            <p:cNvSpPr txBox="1"/>
            <p:nvPr/>
          </p:nvSpPr>
          <p:spPr>
            <a:xfrm>
              <a:off x="89602" y="34775"/>
              <a:ext cx="2450233" cy="832251"/>
            </a:xfrm>
            <a:prstGeom prst="roundRect"/>
            <a:solidFill>
              <a:srgbClr val="FAE7A0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文本1"/>
            <p:cNvSpPr txBox="1"/>
            <p:nvPr/>
          </p:nvSpPr>
          <p:spPr>
            <a:xfrm>
              <a:off x="0" y="0"/>
              <a:ext cx="2450233" cy="80274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4800"/>
                </a:lnSpc>
              </a:pPr>
              <a:r>
                <a:rPr lang="zh-CN" altLang="en-US" sz="4000" b="1" i="0" dirty="0">
                  <a:solidFill>
                    <a:srgbClr val="037FB7">
                      <a:alpha val="100000"/>
                    </a:srgbClr>
                  </a:solidFill>
                  <a:latin typeface="宋体"/>
                  <a:ea typeface="宋体"/>
                </a:rPr>
                <a:t>试一试</a:t>
              </a:r>
            </a:p>
          </p:txBody>
        </p:sp>
      </p:grpSp>
      <p:grpSp>
        <p:nvGrpSpPr>
          <p:cNvPr id="7" name="组合2"/>
          <p:cNvGrpSpPr/>
          <p:nvPr/>
        </p:nvGrpSpPr>
        <p:grpSpPr>
          <a:xfrm>
            <a:off x="2417197" y="5170532"/>
            <a:ext cx="2764046" cy="712842"/>
            <a:chOff x="0" y="0"/>
            <a:chExt cx="2764046" cy="712842"/>
          </a:xfrm>
        </p:grpSpPr>
        <p:sp>
          <p:nvSpPr>
            <p:cNvPr id="8" name="形状3"/>
            <p:cNvSpPr txBox="1"/>
            <p:nvPr/>
          </p:nvSpPr>
          <p:spPr>
            <a:xfrm>
              <a:off x="0" y="66511"/>
              <a:ext cx="2736304" cy="646331"/>
            </a:xfrm>
            <a:prstGeom prst="roundRect"/>
            <a:solidFill>
              <a:srgbClr val="FBE5D6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9" name="文本2"/>
            <p:cNvSpPr txBox="1"/>
            <p:nvPr/>
          </p:nvSpPr>
          <p:spPr>
            <a:xfrm>
              <a:off x="27742" y="0"/>
              <a:ext cx="2736304" cy="680293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3800"/>
                </a:lnSpc>
              </a:pPr>
              <a:r>
                <a:rPr lang="zh-CN" altLang="en-US" sz="3200" b="0" i="0" dirty="0">
                  <a:solidFill>
                    <a:srgbClr val="000000">
                      <a:alpha val="100000"/>
                    </a:srgbClr>
                  </a:solidFill>
                  <a:latin typeface="黑体"/>
                  <a:ea typeface="黑体"/>
                </a:rPr>
                <a:t>找三定一法</a:t>
              </a:r>
            </a:p>
          </p:txBody>
        </p:sp>
      </p:grpSp>
      <p:graphicFrame>
        <p:nvGraphicFramePr>
          <p:cNvPr id="10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2239766" y="1865757"/>
          <a:ext cx="3118123" cy="3118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79631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0">
                <a:tc rowSpan="1" gridSpan="1">
                  <a:txBody>
                    <a:bodyPr anchor="t"/>
                    <a:lstStyle/>
                    <a:p>
                      <a:pPr marL="0" algn="ctr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1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1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pSp>
        <p:nvGrpSpPr>
          <p:cNvPr id="11" name="组合3"/>
          <p:cNvGrpSpPr/>
          <p:nvPr/>
        </p:nvGrpSpPr>
        <p:grpSpPr>
          <a:xfrm>
            <a:off x="6977577" y="5239893"/>
            <a:ext cx="2764045" cy="712842"/>
            <a:chOff x="0" y="0"/>
            <a:chExt cx="2764045" cy="712842"/>
          </a:xfrm>
        </p:grpSpPr>
        <p:sp>
          <p:nvSpPr>
            <p:cNvPr id="12" name="形状4"/>
            <p:cNvSpPr txBox="1"/>
            <p:nvPr/>
          </p:nvSpPr>
          <p:spPr>
            <a:xfrm>
              <a:off x="0" y="66511"/>
              <a:ext cx="2736304" cy="646331"/>
            </a:xfrm>
            <a:prstGeom prst="roundRect"/>
            <a:solidFill>
              <a:srgbClr val="FBE5D6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3" name="文本3"/>
            <p:cNvSpPr txBox="1"/>
            <p:nvPr/>
          </p:nvSpPr>
          <p:spPr>
            <a:xfrm>
              <a:off x="27741" y="0"/>
              <a:ext cx="2736304" cy="680293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3800"/>
                </a:lnSpc>
              </a:pPr>
              <a:r>
                <a:rPr lang="zh-CN" altLang="en-US" sz="3200" b="0" i="0" dirty="0">
                  <a:solidFill>
                    <a:srgbClr val="000000">
                      <a:alpha val="100000"/>
                    </a:srgbClr>
                  </a:solidFill>
                  <a:latin typeface="黑体"/>
                  <a:ea typeface="黑体"/>
                </a:rPr>
                <a:t>宫内排除法</a:t>
              </a:r>
            </a:p>
          </p:txBody>
        </p:sp>
      </p:grpSp>
      <p:graphicFrame>
        <p:nvGraphicFramePr>
          <p:cNvPr id="14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6800269" y="1865890"/>
          <a:ext cx="3118123" cy="3118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79631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0">
                <a:tc rowSpan="1" gridSpan="1">
                  <a:txBody>
                    <a:bodyPr anchor="t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1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1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4" grpId="0" animBg="1"/>
    </p:bldLst>
  </p:timing>
</p:sld>
</file>

<file path=ppt/slides/slide7.xml><?xml version="1.0" encoding="utf-8"?>
<p:sld xmlns:p14="http://schemas.microsoft.com/office/powerpoint/2010/main" xmlns:a16="http://schemas.microsoft.com/office/drawing/2014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拓展练习</a:t>
            </a:r>
          </a:p>
        </p:txBody>
      </p:sp>
      <p:grpSp>
        <p:nvGrpSpPr>
          <p:cNvPr id="10" name="组合2"/>
          <p:cNvGrpSpPr/>
          <p:nvPr/>
        </p:nvGrpSpPr>
        <p:grpSpPr>
          <a:xfrm>
            <a:off x="687067" y="577263"/>
            <a:ext cx="3286421" cy="867026"/>
            <a:chOff x="0" y="0"/>
            <a:chExt cx="3286421" cy="867026"/>
          </a:xfrm>
        </p:grpSpPr>
        <p:sp>
          <p:nvSpPr>
            <p:cNvPr id="11" name="形状5"/>
            <p:cNvSpPr txBox="1"/>
            <p:nvPr/>
          </p:nvSpPr>
          <p:spPr>
            <a:xfrm>
              <a:off x="0" y="34775"/>
              <a:ext cx="3168352" cy="832251"/>
            </a:xfrm>
            <a:prstGeom prst="roundRect"/>
            <a:solidFill>
              <a:srgbClr val="FAE7A0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2" name="文本3"/>
            <p:cNvSpPr txBox="1"/>
            <p:nvPr/>
          </p:nvSpPr>
          <p:spPr>
            <a:xfrm>
              <a:off x="118069" y="0"/>
              <a:ext cx="3168352" cy="80274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4800"/>
                </a:lnSpc>
              </a:pPr>
              <a:r>
                <a:rPr lang="zh-CN" altLang="en-US" sz="4000" b="1" i="0" dirty="0">
                  <a:solidFill>
                    <a:srgbClr val="037FB7">
                      <a:alpha val="100000"/>
                    </a:srgbClr>
                  </a:solidFill>
                  <a:latin typeface="宋体"/>
                  <a:ea typeface="宋体"/>
                </a:rPr>
                <a:t>挑战自我</a:t>
              </a:r>
            </a:p>
          </p:txBody>
        </p:sp>
      </p:grpSp>
      <p:graphicFrame>
        <p:nvGraphicFramePr>
          <p:cNvPr id="13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1171746" y="269419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4" name="文本2"/>
          <p:cNvSpPr txBox="1"/>
          <p:nvPr/>
        </p:nvSpPr>
        <p:spPr>
          <a:xfrm>
            <a:off x="687397" y="1725027"/>
            <a:ext cx="6400022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1.</a:t>
            </a:r>
            <a:r>
              <a:rPr lang="zh-CN" altLang="en-US" sz="3600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完成下面的数独游戏。</a:t>
            </a:r>
          </a:p>
        </p:txBody>
      </p:sp>
      <p:graphicFrame>
        <p:nvGraphicFramePr>
          <p:cNvPr id="15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656001" y="270952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6" name="表格3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8317213" y="270924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pSp>
        <p:nvGrpSpPr>
          <p:cNvPr id="17" name="组合3"/>
          <p:cNvGrpSpPr/>
          <p:nvPr/>
        </p:nvGrpSpPr>
        <p:grpSpPr>
          <a:xfrm>
            <a:off x="8396503" y="2780928"/>
            <a:ext cx="2743810" cy="2745454"/>
            <a:chOff x="0" y="0"/>
            <a:chExt cx="2743810" cy="2745454"/>
          </a:xfrm>
        </p:grpSpPr>
        <p:pic>
          <p:nvPicPr>
            <p:cNvPr id="18" name="图片3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579817" cy="608466"/>
            </a:xfrm>
            <a:prstGeom prst="rect">
              <a:avLst/>
            </a:prstGeom>
          </p:spPr>
        </p:pic>
        <p:pic>
          <p:nvPicPr>
            <p:cNvPr id="19" name="图片4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3727" y="0"/>
              <a:ext cx="579817" cy="608466"/>
            </a:xfrm>
            <a:prstGeom prst="rect">
              <a:avLst/>
            </a:prstGeom>
          </p:spPr>
        </p:pic>
        <p:pic>
          <p:nvPicPr>
            <p:cNvPr id="20" name="图片5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63993" y="0"/>
              <a:ext cx="579817" cy="608466"/>
            </a:xfrm>
            <a:prstGeom prst="rect">
              <a:avLst/>
            </a:prstGeom>
          </p:spPr>
        </p:pic>
        <p:pic>
          <p:nvPicPr>
            <p:cNvPr id="21" name="图片6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163993" y="687679"/>
              <a:ext cx="579817" cy="608466"/>
            </a:xfrm>
            <a:prstGeom prst="rect">
              <a:avLst/>
            </a:prstGeom>
          </p:spPr>
        </p:pic>
        <p:pic>
          <p:nvPicPr>
            <p:cNvPr id="22" name="图片7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43913" y="687679"/>
              <a:ext cx="579817" cy="608466"/>
            </a:xfrm>
            <a:prstGeom prst="rect">
              <a:avLst/>
            </a:prstGeom>
          </p:spPr>
        </p:pic>
        <p:pic>
          <p:nvPicPr>
            <p:cNvPr id="23" name="图片8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23726" y="687679"/>
              <a:ext cx="579817" cy="608466"/>
            </a:xfrm>
            <a:prstGeom prst="rect">
              <a:avLst/>
            </a:prstGeom>
          </p:spPr>
        </p:pic>
        <p:pic>
          <p:nvPicPr>
            <p:cNvPr id="24" name="图片9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0" y="687679"/>
              <a:ext cx="579817" cy="608466"/>
            </a:xfrm>
            <a:prstGeom prst="rect">
              <a:avLst/>
            </a:prstGeom>
          </p:spPr>
        </p:pic>
        <p:pic>
          <p:nvPicPr>
            <p:cNvPr id="25" name="图片10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23725" y="1430115"/>
              <a:ext cx="579817" cy="608466"/>
            </a:xfrm>
            <a:prstGeom prst="rect">
              <a:avLst/>
            </a:prstGeom>
          </p:spPr>
        </p:pic>
        <p:pic>
          <p:nvPicPr>
            <p:cNvPr id="26" name="图片11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43913" y="1430115"/>
              <a:ext cx="579817" cy="608466"/>
            </a:xfrm>
            <a:prstGeom prst="rect">
              <a:avLst/>
            </a:prstGeom>
          </p:spPr>
        </p:pic>
        <p:pic>
          <p:nvPicPr>
            <p:cNvPr id="27" name="图片12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443912" y="2136499"/>
              <a:ext cx="579817" cy="608466"/>
            </a:xfrm>
            <a:prstGeom prst="rect">
              <a:avLst/>
            </a:prstGeom>
          </p:spPr>
        </p:pic>
        <p:pic>
          <p:nvPicPr>
            <p:cNvPr id="28" name="图片13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158177" y="2134726"/>
              <a:ext cx="579817" cy="608466"/>
            </a:xfrm>
            <a:prstGeom prst="rect">
              <a:avLst/>
            </a:prstGeom>
          </p:spPr>
        </p:pic>
        <p:pic>
          <p:nvPicPr>
            <p:cNvPr id="29" name="图片14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23724" y="2136988"/>
              <a:ext cx="579817" cy="6084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</p:sld>
</file>

<file path=ppt/slides/slide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639038" y="1003206"/>
            <a:ext cx="8451964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通过这节课的学习，你有什么收获？</a:t>
            </a:r>
          </a:p>
        </p:txBody>
      </p:sp>
      <p:sp>
        <p:nvSpPr>
          <p:cNvPr id="10" name="文本2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课堂小结</a:t>
            </a:r>
          </a:p>
        </p:txBody>
      </p:sp>
      <p:graphicFrame>
        <p:nvGraphicFramePr>
          <p:cNvPr id="11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656000" y="1880117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pSp>
        <p:nvGrpSpPr>
          <p:cNvPr id="12" name="组合2"/>
          <p:cNvGrpSpPr/>
          <p:nvPr/>
        </p:nvGrpSpPr>
        <p:grpSpPr>
          <a:xfrm>
            <a:off x="763598" y="4891638"/>
            <a:ext cx="10660994" cy="1367768"/>
            <a:chOff x="0" y="0"/>
            <a:chExt cx="10660994" cy="1367768"/>
          </a:xfrm>
        </p:grpSpPr>
        <p:sp>
          <p:nvSpPr>
            <p:cNvPr id="13" name="形状5"/>
            <p:cNvSpPr txBox="1"/>
            <p:nvPr/>
          </p:nvSpPr>
          <p:spPr>
            <a:xfrm>
              <a:off x="3810" y="49530"/>
              <a:ext cx="10657184" cy="1236044"/>
            </a:xfrm>
            <a:prstGeom prst="rect"/>
            <a:solidFill>
              <a:srgbClr val="FBE5D6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4" name="文本3"/>
            <p:cNvSpPr txBox="1"/>
            <p:nvPr/>
          </p:nvSpPr>
          <p:spPr>
            <a:xfrm>
              <a:off x="0" y="0"/>
              <a:ext cx="10657184" cy="1367768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Times New Roman"/>
                  <a:ea typeface="Times New Roman"/>
                </a:rPr>
                <a:t>        </a:t>
              </a: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楷体"/>
                  <a:ea typeface="楷体"/>
                </a:rPr>
                <a:t>可以根据方格排除数，还可以根据数排除方格。同时结合行、列、宫进行观察，可以更快地进行判断。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theme/theme1.xml><?xml version="1.0" encoding="utf-8"?>
<a:theme xmlns:thm15="http://schemas.microsoft.com/office/thememl/2012/main"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vt="http://schemas.openxmlformats.org/officeDocument/2006/docPropsVTypes" xmlns:ap="http://schemas.openxmlformats.org/officeDocument/2006/extended-properties">
  <ap:TotalTime>0</ap:TotalTime>
  <ap:Words>0</ap:Words>
  <ap:Application>Microsoft Office PowerPoint</ap:Application>
  <ap:PresentationFormat>宽屏</ap:PresentationFormat>
  <ap:Paragraphs>0</ap:Paragraphs>
  <ap:Slides>1</ap:Slides>
  <ap:Notes>0</ap:Notes>
  <ap:HiddenSlides>0</ap:HiddenSlides>
  <ap:MMClips>0</ap:MMClips>
  <ap:ScaleCrop>false</ap:ScaleCrop>
  <ap:HeadingPairs>
    <vt:vector baseType="variant" size="6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ap:HeadingPairs>
  <ap:TitlesOfParts>
    <vt:vector baseType="lpstr" size="3">
      <vt:lpstr>Arial</vt:lpstr>
      <vt:lpstr>Office 主题​​</vt:lpstr>
      <vt:lpstr>PowerPoint 演示文稿</vt:lpstr>
    </vt:vector>
  </ap:TitlesOfParts>
  <ap:Company/>
  <ap:LinksUpToDate>false</ap:LinksUpToDate>
  <ap:SharedDoc>false</ap:SharedDoc>
  <ap:HyperlinksChanged>false</ap:HyperlinksChanged>
  <ap:AppVersion>16.0000</ap:AppVers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哦哦骑士</dc:creator>
  <dc:title>数独游戏</dc:title>
  <revision>1</revision>
  <dcterms:created xsi:type="dcterms:W3CDTF">2026-05-19T16:05:47.1363710Z</dcterms:created>
  <dcterms:modified xsi:type="dcterms:W3CDTF">2026-05-19T16:05:47.1363971Z</dcterms:modified>
  <lastModifiedBy>哦哦骑士</lastModifiedBy>
</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ApplicationName">
    <vt:lpwstr>EasiNote5</vt:lpwstr>
  </op:property>
  <op:property fmtid="{D5CDD505-2E9C-101B-9397-08002B2CF9AE}" pid="3" name="ApplicationVersion">
    <vt:lpwstr>5.2.4.9612</vt:lpwstr>
  </op:property>
  <op:property fmtid="{D5CDD505-2E9C-101B-9397-08002B2CF9AE}" pid="4" name="EasiNoteCoursewareInfo">
    <vt:lpwstr>db596b66-4bb2-461b-a209-2905b875f985:43</vt:lpwstr>
  </op:property>
  <op:property fmtid="{D5CDD505-2E9C-101B-9397-08002B2CF9AE}" pid="5" name="EasiNoteDocumentName">
    <vt:lpwstr>数独游戏</vt:lpwstr>
  </op:property>
  <op:property fmtid="{D5CDD505-2E9C-101B-9397-08002B2CF9AE}" pid="6" name="EasiNoteAuthor">
    <vt:lpwstr>wjmurrxsluywrkipsvopls4415715781</vt:lpwstr>
  </op:property>
  <op:property fmtid="{D5CDD505-2E9C-101B-9397-08002B2CF9AE}" pid="7" name="EasiNoteUpstreamCoursewareInfo_0">
    <vt:lpwstr>db596b66-4bb2-461b-a209-2905b875f985</vt:lpwstr>
  </op:property>
</op:Properties>
</file>