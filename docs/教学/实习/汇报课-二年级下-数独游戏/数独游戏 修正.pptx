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373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0" y="-4233"/>
            <a:ext cx="12192000" cy="6858000"/>
          </a:xfrm>
          <a:prstGeom prst="rect">
            <a:avLst/>
          </a:prstGeom>
          <a:solidFill>
            <a:srgbClr val="22C0C4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endParaRPr/>
          </a:p>
        </p:txBody>
      </p:sp>
      <p:pic>
        <p:nvPicPr>
          <p:cNvPr id="3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231" y="209550"/>
            <a:ext cx="11545973" cy="6210300"/>
          </a:xfrm>
          <a:prstGeom prst="rect">
            <a:avLst/>
          </a:prstGeom>
        </p:spPr>
      </p:pic>
      <p:pic>
        <p:nvPicPr>
          <p:cNvPr id="4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1240" y="2729132"/>
            <a:ext cx="3220760" cy="4128868"/>
          </a:xfrm>
          <a:prstGeom prst="rect">
            <a:avLst/>
          </a:prstGeom>
        </p:spPr>
      </p:pic>
      <p:pic>
        <p:nvPicPr>
          <p:cNvPr id="5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473543"/>
            <a:ext cx="3074796" cy="3587262"/>
          </a:xfrm>
          <a:prstGeom prst="rect">
            <a:avLst/>
          </a:prstGeom>
        </p:spPr>
      </p:pic>
      <p:sp>
        <p:nvSpPr>
          <p:cNvPr id="6" name="文本1"/>
          <p:cNvSpPr txBox="1"/>
          <p:nvPr/>
        </p:nvSpPr>
        <p:spPr>
          <a:xfrm>
            <a:off x="-143510" y="6590455"/>
            <a:ext cx="1250951" cy="46749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1400"/>
              </a:lnSpc>
            </a:pPr>
            <a:r>
              <a:rPr lang="zh-CN" altLang="en-US" sz="1200" b="0" i="0" dirty="0">
                <a:solidFill>
                  <a:srgbClr val="21B8BB">
                    <a:alpha val="100000"/>
                  </a:srgbClr>
                </a:solidFill>
                <a:latin typeface="楷体"/>
                <a:ea typeface="楷体"/>
              </a:rPr>
              <a:t>状元成才路</a:t>
            </a:r>
          </a:p>
        </p:txBody>
      </p:sp>
      <p:pic>
        <p:nvPicPr>
          <p:cNvPr id="7" name="图片4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401" y="6633634"/>
            <a:ext cx="1064684" cy="351367"/>
          </a:xfrm>
          <a:prstGeom prst="rect">
            <a:avLst/>
          </a:prstGeom>
        </p:spPr>
      </p:pic>
      <p:grpSp>
        <p:nvGrpSpPr>
          <p:cNvPr id="8" name="组合1"/>
          <p:cNvGrpSpPr/>
          <p:nvPr/>
        </p:nvGrpSpPr>
        <p:grpSpPr>
          <a:xfrm>
            <a:off x="2135560" y="1636847"/>
            <a:ext cx="8107570" cy="1206596"/>
            <a:chOff x="0" y="0"/>
            <a:chExt cx="8107570" cy="1206596"/>
          </a:xfrm>
        </p:grpSpPr>
        <p:sp>
          <p:nvSpPr>
            <p:cNvPr id="9" name="文本4"/>
            <p:cNvSpPr txBox="1"/>
            <p:nvPr/>
          </p:nvSpPr>
          <p:spPr>
            <a:xfrm>
              <a:off x="998872" y="92766"/>
              <a:ext cx="7108698" cy="1113830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ctr">
                <a:lnSpc>
                  <a:spcPts val="6500"/>
                </a:lnSpc>
              </a:pPr>
              <a:r>
                <a:rPr lang="zh-CN" altLang="en-US" sz="5400" b="1" i="0" dirty="0">
                  <a:solidFill>
                    <a:srgbClr val="000000">
                      <a:alpha val="100000"/>
                    </a:srgbClr>
                  </a:solidFill>
                  <a:latin typeface="宋体"/>
                  <a:ea typeface="宋体"/>
                </a:rPr>
                <a:t>万以内的加法和减法</a:t>
              </a:r>
            </a:p>
          </p:txBody>
        </p:sp>
        <p:sp>
          <p:nvSpPr>
            <p:cNvPr id="10" name="形状2"/>
            <p:cNvSpPr txBox="1"/>
            <p:nvPr/>
          </p:nvSpPr>
          <p:spPr>
            <a:xfrm>
              <a:off x="0" y="63961"/>
              <a:ext cx="1080000" cy="1080000"/>
            </a:xfrm>
            <a:prstGeom prst="ellipse">
              <a:avLst/>
            </a:prstGeom>
            <a:solidFill>
              <a:srgbClr val="0079AD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  <a:effectLst>
              <a:outerShdw dist="63500" dir="13500000" rotWithShape="0">
                <a:srgbClr val="000000">
                  <a:alpha val="40000"/>
                </a:srgbClr>
              </a:outerShdw>
            </a:effectLst>
          </p:spPr>
          <p:txBody>
            <a:bodyPr anchor="ctr"/>
            <a:lstStyle/>
            <a:p>
              <a:pPr marL="0" algn="ctr"/>
              <a:endParaRPr/>
            </a:p>
          </p:txBody>
        </p:sp>
        <p:sp>
          <p:nvSpPr>
            <p:cNvPr id="11" name="文本5"/>
            <p:cNvSpPr txBox="1"/>
            <p:nvPr/>
          </p:nvSpPr>
          <p:spPr>
            <a:xfrm>
              <a:off x="154352" y="0"/>
              <a:ext cx="967391" cy="1108862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7200"/>
                </a:lnSpc>
              </a:pPr>
              <a:r>
                <a:rPr lang="zh-CN" altLang="en-US" sz="6000" b="1" i="0" dirty="0">
                  <a:solidFill>
                    <a:srgbClr val="FFFFFF">
                      <a:alpha val="100000"/>
                    </a:srgbClr>
                  </a:solidFill>
                  <a:effectLst>
                    <a:outerShdw blurRad="38100" dist="38100" dir="2700000" rotWithShape="0">
                      <a:srgbClr val="000000">
                        <a:alpha val="43137"/>
                      </a:srgbClr>
                    </a:outerShdw>
                  </a:effectLst>
                  <a:latin typeface="宋体"/>
                  <a:ea typeface="宋体"/>
                </a:rPr>
                <a:t>四</a:t>
              </a:r>
            </a:p>
          </p:txBody>
        </p:sp>
      </p:grpSp>
      <p:sp>
        <p:nvSpPr>
          <p:cNvPr id="12" name="文本2"/>
          <p:cNvSpPr txBox="1"/>
          <p:nvPr/>
        </p:nvSpPr>
        <p:spPr>
          <a:xfrm>
            <a:off x="208461" y="136971"/>
            <a:ext cx="2898710" cy="59061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400"/>
              </a:lnSpc>
            </a:pPr>
            <a:r>
              <a:rPr lang="zh-CN" altLang="en-US" sz="2000" b="0" i="0" dirty="0">
                <a:solidFill>
                  <a:srgbClr val="FFFFFF">
                    <a:alpha val="100000"/>
                  </a:srgbClr>
                </a:solidFill>
                <a:effectLst>
                  <a:outerShdw dist="63500" dir="2700000" rotWithShape="0">
                    <a:srgbClr val="000000">
                      <a:alpha val="43137"/>
                    </a:srgbClr>
                  </a:outerShdw>
                </a:effectLst>
                <a:latin typeface="黑体"/>
                <a:ea typeface="黑体"/>
              </a:rPr>
              <a:t>R·二年级数学下册</a:t>
            </a:r>
          </a:p>
        </p:txBody>
      </p:sp>
      <p:sp>
        <p:nvSpPr>
          <p:cNvPr id="13" name="文本3"/>
          <p:cNvSpPr txBox="1"/>
          <p:nvPr/>
        </p:nvSpPr>
        <p:spPr>
          <a:xfrm>
            <a:off x="1259524" y="3189734"/>
            <a:ext cx="9672953" cy="1298496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8600"/>
              </a:lnSpc>
            </a:pPr>
            <a:r>
              <a:rPr lang="zh-CN" altLang="en-US" sz="7200" b="1" i="0" dirty="0">
                <a:solidFill>
                  <a:srgbClr val="22C0C4">
                    <a:alpha val="100000"/>
                  </a:srgbClr>
                </a:solidFill>
                <a:effectLst>
                  <a:outerShdw dist="63500" dir="2700000" rotWithShape="0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</a:rPr>
              <a:t>数独游戏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0" y="4233"/>
            <a:ext cx="12192000" cy="6858000"/>
          </a:xfrm>
          <a:prstGeom prst="rect">
            <a:avLst/>
          </a:prstGeom>
          <a:solidFill>
            <a:srgbClr val="22C0C4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endParaRPr/>
          </a:p>
        </p:txBody>
      </p:sp>
      <p:pic>
        <p:nvPicPr>
          <p:cNvPr id="3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2" y="-162984"/>
            <a:ext cx="12323233" cy="7217835"/>
          </a:xfrm>
          <a:prstGeom prst="rect">
            <a:avLst/>
          </a:prstGeom>
        </p:spPr>
      </p:pic>
      <p:grpSp>
        <p:nvGrpSpPr>
          <p:cNvPr id="4" name="组合1"/>
          <p:cNvGrpSpPr/>
          <p:nvPr/>
        </p:nvGrpSpPr>
        <p:grpSpPr>
          <a:xfrm>
            <a:off x="4578574" y="165857"/>
            <a:ext cx="3034853" cy="814871"/>
            <a:chOff x="0" y="0"/>
            <a:chExt cx="3034853" cy="814871"/>
          </a:xfrm>
        </p:grpSpPr>
        <p:sp>
          <p:nvSpPr>
            <p:cNvPr id="5" name="形状3"/>
            <p:cNvSpPr txBox="1"/>
            <p:nvPr/>
          </p:nvSpPr>
          <p:spPr>
            <a:xfrm>
              <a:off x="47698" y="0"/>
              <a:ext cx="2987155" cy="765515"/>
            </a:xfrm>
            <a:prstGeom prst="rect">
              <a:avLst/>
            </a:prstGeom>
            <a:solidFill>
              <a:srgbClr val="118A8D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  <p:sp>
          <p:nvSpPr>
            <p:cNvPr id="6" name="形状4"/>
            <p:cNvSpPr txBox="1"/>
            <p:nvPr/>
          </p:nvSpPr>
          <p:spPr>
            <a:xfrm>
              <a:off x="0" y="49356"/>
              <a:ext cx="2987155" cy="7655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118A8D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</p:grpSp>
      <p:pic>
        <p:nvPicPr>
          <p:cNvPr id="7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628928">
            <a:off x="6842525" y="-97654"/>
            <a:ext cx="1056178" cy="1069464"/>
          </a:xfrm>
          <a:prstGeom prst="rect">
            <a:avLst/>
          </a:prstGeom>
        </p:spPr>
      </p:pic>
      <p:sp>
        <p:nvSpPr>
          <p:cNvPr id="8" name="形状2"/>
          <p:cNvSpPr txBox="1"/>
          <p:nvPr/>
        </p:nvSpPr>
        <p:spPr>
          <a:xfrm>
            <a:off x="4937691" y="918568"/>
            <a:ext cx="2316619" cy="1905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CAD7D7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  <a:endParaRPr/>
          </a:p>
        </p:txBody>
      </p:sp>
      <p:sp>
        <p:nvSpPr>
          <p:cNvPr id="9" name="文本1"/>
          <p:cNvSpPr txBox="1"/>
          <p:nvPr/>
        </p:nvSpPr>
        <p:spPr>
          <a:xfrm>
            <a:off x="4596959" y="195449"/>
            <a:ext cx="3180963" cy="898386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4800"/>
              </a:lnSpc>
            </a:pPr>
            <a:r>
              <a:rPr lang="zh-CN" altLang="en-US" sz="40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游戏导入</a:t>
            </a:r>
          </a:p>
        </p:txBody>
      </p:sp>
      <p:sp>
        <p:nvSpPr>
          <p:cNvPr id="10" name="文本2"/>
          <p:cNvSpPr txBox="1"/>
          <p:nvPr/>
        </p:nvSpPr>
        <p:spPr>
          <a:xfrm>
            <a:off x="781600" y="1219230"/>
            <a:ext cx="10757674" cy="147130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800"/>
              </a:lnSpc>
            </a:pPr>
            <a:r>
              <a:rPr lang="zh-CN" altLang="en-US" sz="3600" b="0" i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</a:rPr>
              <a:t>规则：下面的方格中只能填</a:t>
            </a:r>
            <a:r>
              <a:rPr lang="zh-CN" altLang="en-US" sz="3600" b="1" i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1~4</a:t>
            </a:r>
            <a:r>
              <a:rPr lang="zh-CN" altLang="en-US" sz="3600" b="0" i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</a:rPr>
              <a:t>这四个数，每个数只能用一次。</a:t>
            </a:r>
          </a:p>
        </p:txBody>
      </p:sp>
      <p:graphicFrame>
        <p:nvGraphicFramePr>
          <p:cNvPr id="11" name="表格1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907840" y="2845495"/>
          <a:ext cx="3187224" cy="799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806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96806">
                  <a:extLst>
                    <a:ext uri="{9D8B030D-6E8A-4147-A177-3AD203B41FA5}">
                      <a16:colId xmlns:a16="http://schemas.microsoft.com/office/drawing/2014/main" val="1009617235"/>
                    </a:ext>
                  </a:extLst>
                </a:gridCol>
                <a:gridCol w="796806">
                  <a:extLst>
                    <a:ext uri="{9D8B030D-6E8A-4147-A177-3AD203B41FA5}">
                      <a16:colId xmlns:a16="http://schemas.microsoft.com/office/drawing/2014/main" val="2281527148"/>
                    </a:ext>
                  </a:extLst>
                </a:gridCol>
                <a:gridCol w="796806">
                  <a:extLst>
                    <a:ext uri="{9D8B030D-6E8A-4147-A177-3AD203B41FA5}">
                      <a16:colId xmlns:a16="http://schemas.microsoft.com/office/drawing/2014/main" val="331052743"/>
                    </a:ext>
                  </a:extLst>
                </a:gridCol>
              </a:tblGrid>
              <a:tr h="799529">
                <a:tc>
                  <a:txBody>
                    <a:bodyPr/>
                    <a:lstStyle/>
                    <a:p>
                      <a:pPr marL="0" algn="ctr">
                        <a:lnSpc>
                          <a:spcPts val="5300"/>
                        </a:lnSpc>
                      </a:pPr>
                      <a:r>
                        <a:rPr lang="zh-CN" altLang="en-US" sz="4399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CE0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CE0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5300"/>
                        </a:lnSpc>
                      </a:pPr>
                      <a:r>
                        <a:rPr lang="zh-CN" altLang="en-US" sz="4399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CE0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5300"/>
                        </a:lnSpc>
                      </a:pPr>
                      <a:r>
                        <a:rPr lang="zh-CN" altLang="en-US" sz="4399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A</a:t>
                      </a:r>
                    </a:p>
                  </a:txBody>
                  <a:tcPr anchor="ctr"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CE0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表格2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4536600" y="2845495"/>
          <a:ext cx="3187224" cy="799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806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96806">
                  <a:extLst>
                    <a:ext uri="{9D8B030D-6E8A-4147-A177-3AD203B41FA5}">
                      <a16:colId xmlns:a16="http://schemas.microsoft.com/office/drawing/2014/main" val="2591058063"/>
                    </a:ext>
                  </a:extLst>
                </a:gridCol>
                <a:gridCol w="796806">
                  <a:extLst>
                    <a:ext uri="{9D8B030D-6E8A-4147-A177-3AD203B41FA5}">
                      <a16:colId xmlns:a16="http://schemas.microsoft.com/office/drawing/2014/main" val="183154260"/>
                    </a:ext>
                  </a:extLst>
                </a:gridCol>
                <a:gridCol w="796806">
                  <a:extLst>
                    <a:ext uri="{9D8B030D-6E8A-4147-A177-3AD203B41FA5}">
                      <a16:colId xmlns:a16="http://schemas.microsoft.com/office/drawing/2014/main" val="3513462991"/>
                    </a:ext>
                  </a:extLst>
                </a:gridCol>
              </a:tblGrid>
              <a:tr h="799529">
                <a:tc>
                  <a:txBody>
                    <a:bodyPr/>
                    <a:lstStyle/>
                    <a:p>
                      <a:pPr marL="0" algn="ctr">
                        <a:lnSpc>
                          <a:spcPts val="5300"/>
                        </a:lnSpc>
                      </a:pPr>
                      <a:r>
                        <a:rPr lang="zh-CN" altLang="en-US" sz="4399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CE0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CE0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CE0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5300"/>
                        </a:lnSpc>
                      </a:pPr>
                      <a:r>
                        <a:rPr lang="zh-CN" altLang="en-US" sz="4399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A</a:t>
                      </a:r>
                    </a:p>
                  </a:txBody>
                  <a:tcPr anchor="ctr"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CE0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3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8165360" y="2845495"/>
          <a:ext cx="3187224" cy="799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806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96806">
                  <a:extLst>
                    <a:ext uri="{9D8B030D-6E8A-4147-A177-3AD203B41FA5}">
                      <a16:colId xmlns:a16="http://schemas.microsoft.com/office/drawing/2014/main" val="3509810216"/>
                    </a:ext>
                  </a:extLst>
                </a:gridCol>
                <a:gridCol w="796806">
                  <a:extLst>
                    <a:ext uri="{9D8B030D-6E8A-4147-A177-3AD203B41FA5}">
                      <a16:colId xmlns:a16="http://schemas.microsoft.com/office/drawing/2014/main" val="288357498"/>
                    </a:ext>
                  </a:extLst>
                </a:gridCol>
                <a:gridCol w="796806">
                  <a:extLst>
                    <a:ext uri="{9D8B030D-6E8A-4147-A177-3AD203B41FA5}">
                      <a16:colId xmlns:a16="http://schemas.microsoft.com/office/drawing/2014/main" val="1914832090"/>
                    </a:ext>
                  </a:extLst>
                </a:gridCol>
              </a:tblGrid>
              <a:tr h="799529">
                <a:tc>
                  <a:txBody>
                    <a:bodyPr/>
                    <a:lstStyle/>
                    <a:p>
                      <a:pPr marL="0" algn="ctr">
                        <a:lnSpc>
                          <a:spcPts val="5300"/>
                        </a:lnSpc>
                      </a:pPr>
                      <a:r>
                        <a:rPr lang="zh-CN" altLang="en-US" sz="4399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CE0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5300"/>
                        </a:lnSpc>
                      </a:pPr>
                      <a:r>
                        <a:rPr lang="zh-CN" altLang="en-US" sz="4399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CE0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5300"/>
                        </a:lnSpc>
                      </a:pPr>
                      <a:r>
                        <a:rPr lang="zh-CN" altLang="en-US" sz="4399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CE0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5300"/>
                        </a:lnSpc>
                      </a:pPr>
                      <a:r>
                        <a:rPr lang="zh-CN" altLang="en-US" sz="4399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A</a:t>
                      </a:r>
                    </a:p>
                  </a:txBody>
                  <a:tcPr anchor="ctr"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CE0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文本3"/>
          <p:cNvSpPr txBox="1"/>
          <p:nvPr/>
        </p:nvSpPr>
        <p:spPr>
          <a:xfrm>
            <a:off x="2101598" y="3628963"/>
            <a:ext cx="982588" cy="850809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4800"/>
              </a:lnSpc>
            </a:pPr>
            <a:r>
              <a:rPr lang="zh-CN" altLang="en-US" sz="3600" b="0" i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</a:rPr>
              <a:t>①</a:t>
            </a:r>
          </a:p>
        </p:txBody>
      </p:sp>
      <p:sp>
        <p:nvSpPr>
          <p:cNvPr id="15" name="文本4"/>
          <p:cNvSpPr txBox="1"/>
          <p:nvPr/>
        </p:nvSpPr>
        <p:spPr>
          <a:xfrm>
            <a:off x="5730358" y="3628963"/>
            <a:ext cx="982588" cy="850809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4800"/>
              </a:lnSpc>
            </a:pPr>
            <a:r>
              <a:rPr lang="zh-CN" altLang="en-US" sz="3600" b="0" i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</a:rPr>
              <a:t>②</a:t>
            </a:r>
          </a:p>
        </p:txBody>
      </p:sp>
      <p:sp>
        <p:nvSpPr>
          <p:cNvPr id="16" name="文本5"/>
          <p:cNvSpPr txBox="1"/>
          <p:nvPr/>
        </p:nvSpPr>
        <p:spPr>
          <a:xfrm>
            <a:off x="9359118" y="3628963"/>
            <a:ext cx="982588" cy="850809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4800"/>
              </a:lnSpc>
            </a:pPr>
            <a:r>
              <a:rPr lang="zh-CN" altLang="en-US" sz="3600" b="0" i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</a:rPr>
              <a:t>③</a:t>
            </a:r>
          </a:p>
        </p:txBody>
      </p:sp>
      <p:pic>
        <p:nvPicPr>
          <p:cNvPr id="17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4392" y="4306720"/>
            <a:ext cx="1903074" cy="2045185"/>
          </a:xfrm>
          <a:prstGeom prst="rect">
            <a:avLst/>
          </a:prstGeom>
        </p:spPr>
      </p:pic>
      <p:grpSp>
        <p:nvGrpSpPr>
          <p:cNvPr id="18" name="组合2"/>
          <p:cNvGrpSpPr/>
          <p:nvPr/>
        </p:nvGrpSpPr>
        <p:grpSpPr>
          <a:xfrm>
            <a:off x="4423308" y="4563149"/>
            <a:ext cx="4949056" cy="739961"/>
            <a:chOff x="0" y="0"/>
            <a:chExt cx="4949056" cy="739961"/>
          </a:xfrm>
        </p:grpSpPr>
        <p:sp>
          <p:nvSpPr>
            <p:cNvPr id="19" name="形状5"/>
            <p:cNvSpPr txBox="1"/>
            <p:nvPr/>
          </p:nvSpPr>
          <p:spPr>
            <a:xfrm>
              <a:off x="0" y="17979"/>
              <a:ext cx="4949056" cy="646331"/>
            </a:xfrm>
            <a:prstGeom prst="wedgeRoundRectCallout">
              <a:avLst/>
            </a:prstGeom>
            <a:solidFill>
              <a:srgbClr val="FFFFFF">
                <a:alpha val="100000"/>
              </a:srgbClr>
            </a:solidFill>
            <a:ln w="19050">
              <a:solidFill>
                <a:srgbClr val="3399FF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  <p:sp>
          <p:nvSpPr>
            <p:cNvPr id="20" name="文本9"/>
            <p:cNvSpPr txBox="1"/>
            <p:nvPr/>
          </p:nvSpPr>
          <p:spPr>
            <a:xfrm>
              <a:off x="27741" y="0"/>
              <a:ext cx="4885953" cy="739961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4200"/>
                </a:lnSpc>
              </a:pPr>
              <a:r>
                <a:rPr lang="zh-CN" altLang="en-US" sz="3200" b="1" i="0" dirty="0">
                  <a:solidFill>
                    <a:srgbClr val="000000">
                      <a:alpha val="100000"/>
                    </a:srgbClr>
                  </a:solidFill>
                  <a:latin typeface="楷体"/>
                  <a:ea typeface="楷体"/>
                </a:rPr>
                <a:t>你能很快猜出</a:t>
              </a:r>
              <a:r>
                <a:rPr lang="zh-CN" altLang="en-US" sz="3200" b="1" i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</a:rPr>
                <a:t>A</a:t>
              </a:r>
              <a:r>
                <a:rPr lang="zh-CN" altLang="en-US" sz="3200" b="1" i="0" dirty="0">
                  <a:solidFill>
                    <a:srgbClr val="000000">
                      <a:alpha val="100000"/>
                    </a:srgbClr>
                  </a:solidFill>
                  <a:latin typeface="楷体"/>
                  <a:ea typeface="楷体"/>
                </a:rPr>
                <a:t>是几吗？</a:t>
              </a:r>
            </a:p>
          </p:txBody>
        </p:sp>
      </p:grpSp>
      <p:sp>
        <p:nvSpPr>
          <p:cNvPr id="21" name="文本6"/>
          <p:cNvSpPr txBox="1"/>
          <p:nvPr/>
        </p:nvSpPr>
        <p:spPr>
          <a:xfrm>
            <a:off x="3292958" y="3543618"/>
            <a:ext cx="990719" cy="1021497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5700"/>
              </a:lnSpc>
            </a:pPr>
            <a:r>
              <a:rPr lang="zh-CN" altLang="en-US" sz="4800" b="0" i="0" dirty="0">
                <a:solidFill>
                  <a:srgbClr val="FF0000">
                    <a:alpha val="100000"/>
                  </a:srgbClr>
                </a:solidFill>
                <a:latin typeface="黑体"/>
                <a:ea typeface="黑体"/>
              </a:rPr>
              <a:t>×</a:t>
            </a:r>
          </a:p>
        </p:txBody>
      </p:sp>
      <p:sp>
        <p:nvSpPr>
          <p:cNvPr id="22" name="文本7"/>
          <p:cNvSpPr txBox="1"/>
          <p:nvPr/>
        </p:nvSpPr>
        <p:spPr>
          <a:xfrm>
            <a:off x="6920943" y="3543618"/>
            <a:ext cx="990719" cy="1021497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5700"/>
              </a:lnSpc>
            </a:pPr>
            <a:r>
              <a:rPr lang="zh-CN" altLang="en-US" sz="4800" b="0" i="0" dirty="0">
                <a:solidFill>
                  <a:srgbClr val="FF0000">
                    <a:alpha val="100000"/>
                  </a:srgbClr>
                </a:solidFill>
                <a:latin typeface="黑体"/>
                <a:ea typeface="黑体"/>
              </a:rPr>
              <a:t>×</a:t>
            </a:r>
          </a:p>
        </p:txBody>
      </p:sp>
      <p:sp>
        <p:nvSpPr>
          <p:cNvPr id="23" name="文本8"/>
          <p:cNvSpPr txBox="1"/>
          <p:nvPr/>
        </p:nvSpPr>
        <p:spPr>
          <a:xfrm>
            <a:off x="10063541" y="2052327"/>
            <a:ext cx="1678473" cy="836831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300"/>
              </a:lnSpc>
            </a:pPr>
            <a:r>
              <a:rPr lang="zh-CN" altLang="en-US" sz="3600" b="1" i="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</a:rPr>
              <a:t>A</a:t>
            </a:r>
            <a:r>
              <a:rPr lang="zh-CN" altLang="en-US" sz="3600" b="0" i="0" dirty="0">
                <a:solidFill>
                  <a:srgbClr val="FF0000">
                    <a:alpha val="100000"/>
                  </a:srgbClr>
                </a:solidFill>
                <a:latin typeface="黑体"/>
                <a:ea typeface="黑体"/>
              </a:rPr>
              <a:t>是</a:t>
            </a:r>
            <a:r>
              <a:rPr lang="zh-CN" altLang="en-US" sz="3600" b="1" i="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0" y="4233"/>
            <a:ext cx="12192000" cy="6858000"/>
          </a:xfrm>
          <a:prstGeom prst="rect">
            <a:avLst/>
          </a:prstGeom>
          <a:solidFill>
            <a:srgbClr val="22C0C4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endParaRPr/>
          </a:p>
        </p:txBody>
      </p:sp>
      <p:pic>
        <p:nvPicPr>
          <p:cNvPr id="3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2" y="-162984"/>
            <a:ext cx="12323233" cy="7217835"/>
          </a:xfrm>
          <a:prstGeom prst="rect">
            <a:avLst/>
          </a:prstGeom>
        </p:spPr>
      </p:pic>
      <p:grpSp>
        <p:nvGrpSpPr>
          <p:cNvPr id="4" name="组合1"/>
          <p:cNvGrpSpPr/>
          <p:nvPr/>
        </p:nvGrpSpPr>
        <p:grpSpPr>
          <a:xfrm>
            <a:off x="4578574" y="165857"/>
            <a:ext cx="3034853" cy="814871"/>
            <a:chOff x="0" y="0"/>
            <a:chExt cx="3034853" cy="814871"/>
          </a:xfrm>
        </p:grpSpPr>
        <p:sp>
          <p:nvSpPr>
            <p:cNvPr id="5" name="形状3"/>
            <p:cNvSpPr txBox="1"/>
            <p:nvPr/>
          </p:nvSpPr>
          <p:spPr>
            <a:xfrm>
              <a:off x="47698" y="0"/>
              <a:ext cx="2987155" cy="765515"/>
            </a:xfrm>
            <a:prstGeom prst="rect">
              <a:avLst/>
            </a:prstGeom>
            <a:solidFill>
              <a:srgbClr val="118A8D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  <p:sp>
          <p:nvSpPr>
            <p:cNvPr id="6" name="形状4"/>
            <p:cNvSpPr txBox="1"/>
            <p:nvPr/>
          </p:nvSpPr>
          <p:spPr>
            <a:xfrm>
              <a:off x="0" y="49356"/>
              <a:ext cx="2987155" cy="7655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118A8D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</p:grpSp>
      <p:pic>
        <p:nvPicPr>
          <p:cNvPr id="7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628928">
            <a:off x="6842525" y="-97654"/>
            <a:ext cx="1056178" cy="1069464"/>
          </a:xfrm>
          <a:prstGeom prst="rect">
            <a:avLst/>
          </a:prstGeom>
        </p:spPr>
      </p:pic>
      <p:sp>
        <p:nvSpPr>
          <p:cNvPr id="8" name="形状2"/>
          <p:cNvSpPr txBox="1"/>
          <p:nvPr/>
        </p:nvSpPr>
        <p:spPr>
          <a:xfrm>
            <a:off x="4937691" y="918568"/>
            <a:ext cx="2316619" cy="1905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CAD7D7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  <a:endParaRPr/>
          </a:p>
        </p:txBody>
      </p:sp>
      <p:sp>
        <p:nvSpPr>
          <p:cNvPr id="9" name="文本1"/>
          <p:cNvSpPr txBox="1"/>
          <p:nvPr/>
        </p:nvSpPr>
        <p:spPr>
          <a:xfrm>
            <a:off x="4596959" y="195449"/>
            <a:ext cx="3180963" cy="898386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4800"/>
              </a:lnSpc>
            </a:pPr>
            <a:r>
              <a:rPr lang="zh-CN" altLang="en-US" sz="40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游戏导入</a:t>
            </a:r>
          </a:p>
        </p:txBody>
      </p:sp>
      <p:sp>
        <p:nvSpPr>
          <p:cNvPr id="10" name="文本2"/>
          <p:cNvSpPr txBox="1"/>
          <p:nvPr/>
        </p:nvSpPr>
        <p:spPr>
          <a:xfrm>
            <a:off x="716823" y="980323"/>
            <a:ext cx="6395228" cy="254806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6000"/>
              </a:lnSpc>
            </a:pPr>
            <a:r>
              <a:rPr lang="zh-CN" altLang="en-US" sz="3399" b="1" i="0" dirty="0">
                <a:solidFill>
                  <a:srgbClr val="231F20">
                    <a:alpha val="100000"/>
                  </a:srgbClr>
                </a:solidFill>
                <a:latin typeface="楷体"/>
                <a:ea typeface="楷体"/>
              </a:rPr>
              <a:t>用</a:t>
            </a:r>
            <a:r>
              <a:rPr lang="zh-CN" altLang="en-US" sz="3399" b="1" i="0" dirty="0">
                <a:solidFill>
                  <a:srgbClr val="231F20">
                    <a:alpha val="100000"/>
                  </a:srgbClr>
                </a:solidFill>
                <a:latin typeface="Times New Roman"/>
                <a:ea typeface="Times New Roman"/>
              </a:rPr>
              <a:t>1~3</a:t>
            </a:r>
            <a:r>
              <a:rPr lang="zh-CN" altLang="en-US" sz="3399" b="1" i="0" dirty="0">
                <a:solidFill>
                  <a:srgbClr val="231F20">
                    <a:alpha val="100000"/>
                  </a:srgbClr>
                </a:solidFill>
                <a:latin typeface="楷体"/>
                <a:ea typeface="楷体"/>
              </a:rPr>
              <a:t>填满右边的的方格，要使每行、每列以及每个</a:t>
            </a:r>
            <a:r>
              <a:rPr lang="zh-CN" altLang="en-US" sz="3399" b="1" i="0" dirty="0">
                <a:solidFill>
                  <a:srgbClr val="231F20">
                    <a:alpha val="100000"/>
                  </a:srgbClr>
                </a:solidFill>
                <a:latin typeface="Times New Roman"/>
                <a:ea typeface="Times New Roman"/>
              </a:rPr>
              <a:t>   </a:t>
            </a:r>
            <a:r>
              <a:rPr lang="zh-CN" altLang="en-US" sz="3399" b="1" i="0" dirty="0">
                <a:solidFill>
                  <a:srgbClr val="231F20">
                    <a:alpha val="100000"/>
                  </a:srgbClr>
                </a:solidFill>
                <a:latin typeface="楷体"/>
                <a:ea typeface="楷体"/>
              </a:rPr>
              <a:t>都要用到</a:t>
            </a:r>
            <a:r>
              <a:rPr lang="zh-CN" altLang="en-US" sz="3399" b="1" i="0" dirty="0">
                <a:solidFill>
                  <a:srgbClr val="231F20">
                    <a:alpha val="100000"/>
                  </a:srgbClr>
                </a:solidFill>
                <a:latin typeface="Times New Roman"/>
                <a:ea typeface="Times New Roman"/>
              </a:rPr>
              <a:t>1~3</a:t>
            </a:r>
            <a:r>
              <a:rPr lang="zh-CN" altLang="en-US" sz="3399" b="1" i="0" dirty="0">
                <a:solidFill>
                  <a:srgbClr val="231F20">
                    <a:alpha val="100000"/>
                  </a:srgbClr>
                </a:solidFill>
                <a:latin typeface="楷体"/>
                <a:ea typeface="楷体"/>
              </a:rPr>
              <a:t>，且不能重复。</a:t>
            </a:r>
          </a:p>
        </p:txBody>
      </p:sp>
      <p:graphicFrame>
        <p:nvGraphicFramePr>
          <p:cNvPr id="11" name="表格4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7414492" y="1752752"/>
          <a:ext cx="3142405" cy="2910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774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1021510">
                  <a:extLst>
                    <a:ext uri="{9D8B030D-6E8A-4147-A177-3AD203B41FA5}">
                      <a16:colId xmlns:a16="http://schemas.microsoft.com/office/drawing/2014/main" val="3113227299"/>
                    </a:ext>
                  </a:extLst>
                </a:gridCol>
                <a:gridCol w="1056121">
                  <a:extLst>
                    <a:ext uri="{9D8B030D-6E8A-4147-A177-3AD203B41FA5}">
                      <a16:colId xmlns:a16="http://schemas.microsoft.com/office/drawing/2014/main" val="2502412499"/>
                    </a:ext>
                  </a:extLst>
                </a:gridCol>
              </a:tblGrid>
              <a:tr h="986006"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8313">
                <a:tc>
                  <a:txBody>
                    <a:bodyPr/>
                    <a:lstStyle/>
                    <a:p>
                      <a:pPr marL="0" algn="ctr"/>
                      <a:endParaRPr/>
                    </a:p>
                  </a:txBody>
                  <a:tcPr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6006"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表格5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7414435" y="1752818"/>
          <a:ext cx="3142405" cy="986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4774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1021510">
                  <a:extLst>
                    <a:ext uri="{9D8B030D-6E8A-4147-A177-3AD203B41FA5}">
                      <a16:colId xmlns:a16="http://schemas.microsoft.com/office/drawing/2014/main" val="3010020010"/>
                    </a:ext>
                  </a:extLst>
                </a:gridCol>
                <a:gridCol w="1056121">
                  <a:extLst>
                    <a:ext uri="{9D8B030D-6E8A-4147-A177-3AD203B41FA5}">
                      <a16:colId xmlns:a16="http://schemas.microsoft.com/office/drawing/2014/main" val="2593598461"/>
                    </a:ext>
                  </a:extLst>
                </a:gridCol>
              </a:tblGrid>
              <a:tr h="986006"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CCFA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CCFA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CCFA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文本9"/>
          <p:cNvSpPr txBox="1"/>
          <p:nvPr/>
        </p:nvSpPr>
        <p:spPr>
          <a:xfrm>
            <a:off x="10626045" y="1834467"/>
            <a:ext cx="957520" cy="823008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3899" b="0" i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</a:rPr>
              <a:t>行</a:t>
            </a:r>
          </a:p>
        </p:txBody>
      </p:sp>
      <p:graphicFrame>
        <p:nvGraphicFramePr>
          <p:cNvPr id="14" name="表格6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7368524" y="1753123"/>
          <a:ext cx="1117740" cy="2910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74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</a:tblGrid>
              <a:tr h="986006"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C2FFDB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8313">
                <a:tc>
                  <a:txBody>
                    <a:bodyPr/>
                    <a:lstStyle/>
                    <a:p>
                      <a:pPr marL="0" algn="ctr"/>
                      <a:endParaRPr/>
                    </a:p>
                  </a:txBody>
                  <a:tcPr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C2FFDB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6006"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C2FFDB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文本10"/>
          <p:cNvSpPr txBox="1"/>
          <p:nvPr/>
        </p:nvSpPr>
        <p:spPr>
          <a:xfrm>
            <a:off x="7561034" y="1012335"/>
            <a:ext cx="957520" cy="823008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3899" b="0" i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</a:rPr>
              <a:t>列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0" y="4233"/>
            <a:ext cx="12192000" cy="6858000"/>
          </a:xfrm>
          <a:prstGeom prst="rect">
            <a:avLst/>
          </a:prstGeom>
          <a:solidFill>
            <a:srgbClr val="22C0C4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endParaRPr/>
          </a:p>
        </p:txBody>
      </p:sp>
      <p:pic>
        <p:nvPicPr>
          <p:cNvPr id="3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2" y="-162984"/>
            <a:ext cx="12323233" cy="7217835"/>
          </a:xfrm>
          <a:prstGeom prst="rect">
            <a:avLst/>
          </a:prstGeom>
        </p:spPr>
      </p:pic>
      <p:grpSp>
        <p:nvGrpSpPr>
          <p:cNvPr id="4" name="组合1"/>
          <p:cNvGrpSpPr/>
          <p:nvPr/>
        </p:nvGrpSpPr>
        <p:grpSpPr>
          <a:xfrm>
            <a:off x="4578574" y="165857"/>
            <a:ext cx="3034853" cy="814871"/>
            <a:chOff x="0" y="0"/>
            <a:chExt cx="3034853" cy="814871"/>
          </a:xfrm>
        </p:grpSpPr>
        <p:sp>
          <p:nvSpPr>
            <p:cNvPr id="5" name="形状7"/>
            <p:cNvSpPr txBox="1"/>
            <p:nvPr/>
          </p:nvSpPr>
          <p:spPr>
            <a:xfrm>
              <a:off x="47698" y="0"/>
              <a:ext cx="2987155" cy="765515"/>
            </a:xfrm>
            <a:prstGeom prst="rect">
              <a:avLst/>
            </a:prstGeom>
            <a:solidFill>
              <a:srgbClr val="118A8D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  <p:sp>
          <p:nvSpPr>
            <p:cNvPr id="6" name="形状8"/>
            <p:cNvSpPr txBox="1"/>
            <p:nvPr/>
          </p:nvSpPr>
          <p:spPr>
            <a:xfrm>
              <a:off x="0" y="49356"/>
              <a:ext cx="2987155" cy="7655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118A8D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</p:grpSp>
      <p:pic>
        <p:nvPicPr>
          <p:cNvPr id="7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628928">
            <a:off x="6842525" y="-97654"/>
            <a:ext cx="1056178" cy="1069464"/>
          </a:xfrm>
          <a:prstGeom prst="rect">
            <a:avLst/>
          </a:prstGeom>
        </p:spPr>
      </p:pic>
      <p:sp>
        <p:nvSpPr>
          <p:cNvPr id="8" name="形状2"/>
          <p:cNvSpPr txBox="1"/>
          <p:nvPr/>
        </p:nvSpPr>
        <p:spPr>
          <a:xfrm>
            <a:off x="4937691" y="918568"/>
            <a:ext cx="2316619" cy="1905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CAD7D7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  <a:endParaRPr/>
          </a:p>
        </p:txBody>
      </p:sp>
      <p:sp>
        <p:nvSpPr>
          <p:cNvPr id="9" name="形状3"/>
          <p:cNvSpPr txBox="1"/>
          <p:nvPr/>
        </p:nvSpPr>
        <p:spPr>
          <a:xfrm>
            <a:off x="10394269" y="3429080"/>
            <a:ext cx="720000" cy="720000"/>
          </a:xfrm>
          <a:prstGeom prst="rect">
            <a:avLst/>
          </a:prstGeom>
          <a:solidFill>
            <a:srgbClr val="9900FF">
              <a:alpha val="74901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endParaRPr/>
          </a:p>
        </p:txBody>
      </p:sp>
      <p:sp>
        <p:nvSpPr>
          <p:cNvPr id="10" name="形状4"/>
          <p:cNvSpPr txBox="1"/>
          <p:nvPr/>
        </p:nvSpPr>
        <p:spPr>
          <a:xfrm>
            <a:off x="8232780" y="1989080"/>
            <a:ext cx="2880000" cy="720000"/>
          </a:xfrm>
          <a:prstGeom prst="rect">
            <a:avLst/>
          </a:prstGeom>
          <a:solidFill>
            <a:srgbClr val="22C0C4">
              <a:alpha val="74901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endParaRPr/>
          </a:p>
        </p:txBody>
      </p:sp>
      <p:sp>
        <p:nvSpPr>
          <p:cNvPr id="11" name="形状5"/>
          <p:cNvSpPr txBox="1"/>
          <p:nvPr/>
        </p:nvSpPr>
        <p:spPr>
          <a:xfrm rot="5400000">
            <a:off x="7873897" y="2348921"/>
            <a:ext cx="2880000" cy="720000"/>
          </a:xfrm>
          <a:prstGeom prst="rect">
            <a:avLst/>
          </a:prstGeom>
          <a:solidFill>
            <a:srgbClr val="FFF2CC">
              <a:alpha val="74901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endParaRPr/>
          </a:p>
        </p:txBody>
      </p:sp>
      <p:sp>
        <p:nvSpPr>
          <p:cNvPr id="12" name="文本1"/>
          <p:cNvSpPr txBox="1"/>
          <p:nvPr/>
        </p:nvSpPr>
        <p:spPr>
          <a:xfrm>
            <a:off x="4596959" y="195449"/>
            <a:ext cx="3180963" cy="898386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4800"/>
              </a:lnSpc>
            </a:pPr>
            <a:r>
              <a:rPr lang="zh-CN" altLang="en-US" sz="40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探索新知</a:t>
            </a:r>
          </a:p>
        </p:txBody>
      </p:sp>
      <p:sp>
        <p:nvSpPr>
          <p:cNvPr id="13" name="文本2"/>
          <p:cNvSpPr txBox="1"/>
          <p:nvPr/>
        </p:nvSpPr>
        <p:spPr>
          <a:xfrm>
            <a:off x="588280" y="899304"/>
            <a:ext cx="7535316" cy="2686757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6500"/>
              </a:lnSpc>
            </a:pPr>
            <a:r>
              <a:rPr lang="zh-CN" altLang="en-US" sz="3600" b="1" i="0" dirty="0">
                <a:solidFill>
                  <a:srgbClr val="231F20">
                    <a:alpha val="100000"/>
                  </a:srgbClr>
                </a:solidFill>
                <a:latin typeface="Times New Roman"/>
                <a:ea typeface="Times New Roman"/>
              </a:rPr>
              <a:t>        </a:t>
            </a:r>
            <a:r>
              <a:rPr lang="zh-CN" altLang="en-US" sz="3600" b="1" i="0" dirty="0">
                <a:solidFill>
                  <a:srgbClr val="231F20">
                    <a:alpha val="100000"/>
                  </a:srgbClr>
                </a:solidFill>
                <a:latin typeface="楷体"/>
                <a:ea typeface="楷体"/>
              </a:rPr>
              <a:t>用</a:t>
            </a:r>
            <a:r>
              <a:rPr lang="zh-CN" altLang="en-US" sz="3600" b="1" i="0" dirty="0">
                <a:solidFill>
                  <a:srgbClr val="231F20">
                    <a:alpha val="100000"/>
                  </a:srgbClr>
                </a:solidFill>
                <a:latin typeface="Times New Roman"/>
                <a:ea typeface="Times New Roman"/>
              </a:rPr>
              <a:t>1~4</a:t>
            </a:r>
            <a:r>
              <a:rPr lang="zh-CN" altLang="en-US" sz="3600" b="1" i="0" dirty="0">
                <a:solidFill>
                  <a:srgbClr val="231F20">
                    <a:alpha val="100000"/>
                  </a:srgbClr>
                </a:solidFill>
                <a:latin typeface="楷体"/>
                <a:ea typeface="楷体"/>
              </a:rPr>
              <a:t>填满右边的方格，要使每行、每列以及每个</a:t>
            </a:r>
            <a:r>
              <a:rPr lang="zh-CN" altLang="en-US" sz="3600" b="1" i="0" dirty="0">
                <a:solidFill>
                  <a:srgbClr val="231F20">
                    <a:alpha val="100000"/>
                  </a:srgbClr>
                </a:solidFill>
                <a:latin typeface="Times New Roman"/>
                <a:ea typeface="Times New Roman"/>
              </a:rPr>
              <a:t>          </a:t>
            </a:r>
            <a:r>
              <a:rPr lang="zh-CN" altLang="en-US" sz="3600" b="1" i="0" dirty="0">
                <a:solidFill>
                  <a:srgbClr val="231F20">
                    <a:alpha val="100000"/>
                  </a:srgbClr>
                </a:solidFill>
                <a:latin typeface="楷体"/>
                <a:ea typeface="楷体"/>
              </a:rPr>
              <a:t>（宫）都要用到</a:t>
            </a:r>
            <a:r>
              <a:rPr lang="zh-CN" altLang="en-US" sz="3600" b="1" i="0" dirty="0">
                <a:solidFill>
                  <a:srgbClr val="231F20">
                    <a:alpha val="100000"/>
                  </a:srgbClr>
                </a:solidFill>
                <a:latin typeface="Times New Roman"/>
                <a:ea typeface="Times New Roman"/>
              </a:rPr>
              <a:t>1~4</a:t>
            </a:r>
            <a:r>
              <a:rPr lang="zh-CN" altLang="en-US" sz="3600" b="1" i="0" dirty="0">
                <a:solidFill>
                  <a:srgbClr val="231F20">
                    <a:alpha val="100000"/>
                  </a:srgbClr>
                </a:solidFill>
                <a:latin typeface="楷体"/>
                <a:ea typeface="楷体"/>
              </a:rPr>
              <a:t>，且不能重复。</a:t>
            </a:r>
          </a:p>
        </p:txBody>
      </p:sp>
      <p:graphicFrame>
        <p:nvGraphicFramePr>
          <p:cNvPr id="14" name="表格1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4552530" y="1812930"/>
          <a:ext cx="936000" cy="9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639217278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905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905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905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905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" name="表格2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8233525" y="1269080"/>
          <a:ext cx="288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1326498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59328951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65908780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文本3"/>
          <p:cNvSpPr txBox="1"/>
          <p:nvPr/>
        </p:nvSpPr>
        <p:spPr>
          <a:xfrm>
            <a:off x="10426492" y="4106768"/>
            <a:ext cx="838434" cy="836831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300"/>
              </a:lnSpc>
            </a:pPr>
            <a:r>
              <a:rPr lang="zh-CN" altLang="en-US" sz="3600" b="1" i="0" dirty="0">
                <a:solidFill>
                  <a:srgbClr val="9900FF">
                    <a:alpha val="100000"/>
                  </a:srgbClr>
                </a:solidFill>
                <a:latin typeface="楷体"/>
                <a:ea typeface="楷体"/>
              </a:rPr>
              <a:t>格</a:t>
            </a:r>
          </a:p>
        </p:txBody>
      </p:sp>
      <p:sp>
        <p:nvSpPr>
          <p:cNvPr id="17" name="文本4"/>
          <p:cNvSpPr txBox="1"/>
          <p:nvPr/>
        </p:nvSpPr>
        <p:spPr>
          <a:xfrm>
            <a:off x="11105214" y="1961082"/>
            <a:ext cx="942456" cy="836831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300"/>
              </a:lnSpc>
            </a:pPr>
            <a:r>
              <a:rPr lang="zh-CN" altLang="en-US" sz="3600" b="1" i="0" dirty="0">
                <a:solidFill>
                  <a:srgbClr val="1CA1A4">
                    <a:alpha val="100000"/>
                  </a:srgbClr>
                </a:solidFill>
                <a:latin typeface="楷体"/>
                <a:ea typeface="楷体"/>
              </a:rPr>
              <a:t>行</a:t>
            </a:r>
          </a:p>
        </p:txBody>
      </p:sp>
      <p:sp>
        <p:nvSpPr>
          <p:cNvPr id="18" name="文本5"/>
          <p:cNvSpPr txBox="1"/>
          <p:nvPr/>
        </p:nvSpPr>
        <p:spPr>
          <a:xfrm>
            <a:off x="8976320" y="541341"/>
            <a:ext cx="942456" cy="836831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300"/>
              </a:lnSpc>
            </a:pPr>
            <a:r>
              <a:rPr lang="zh-CN" altLang="en-US" sz="3600" b="1" i="0" dirty="0">
                <a:solidFill>
                  <a:srgbClr val="ED7D31">
                    <a:alpha val="100000"/>
                  </a:srgbClr>
                </a:solidFill>
                <a:latin typeface="楷体"/>
                <a:ea typeface="楷体"/>
              </a:rPr>
              <a:t>列</a:t>
            </a:r>
          </a:p>
        </p:txBody>
      </p:sp>
      <p:sp>
        <p:nvSpPr>
          <p:cNvPr id="19" name="形状6"/>
          <p:cNvSpPr txBox="1"/>
          <p:nvPr/>
        </p:nvSpPr>
        <p:spPr>
          <a:xfrm>
            <a:off x="8232035" y="2708842"/>
            <a:ext cx="1440000" cy="144000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00C08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  <a:endParaRPr/>
          </a:p>
        </p:txBody>
      </p:sp>
      <p:sp>
        <p:nvSpPr>
          <p:cNvPr id="20" name="文本6"/>
          <p:cNvSpPr txBox="1"/>
          <p:nvPr/>
        </p:nvSpPr>
        <p:spPr>
          <a:xfrm>
            <a:off x="8630898" y="4112497"/>
            <a:ext cx="838434" cy="836831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300"/>
              </a:lnSpc>
            </a:pPr>
            <a:r>
              <a:rPr lang="zh-CN" altLang="en-US" sz="3600" b="1" i="0" dirty="0">
                <a:solidFill>
                  <a:srgbClr val="FF0000">
                    <a:alpha val="100000"/>
                  </a:srgbClr>
                </a:solidFill>
                <a:latin typeface="楷体"/>
                <a:ea typeface="楷体"/>
              </a:rPr>
              <a:t>宫</a:t>
            </a:r>
          </a:p>
        </p:txBody>
      </p:sp>
      <p:sp>
        <p:nvSpPr>
          <p:cNvPr id="21" name="文本7"/>
          <p:cNvSpPr txBox="1"/>
          <p:nvPr/>
        </p:nvSpPr>
        <p:spPr>
          <a:xfrm>
            <a:off x="1599050" y="3557387"/>
            <a:ext cx="6311180" cy="859337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5200"/>
              </a:lnSpc>
            </a:pPr>
            <a:r>
              <a:rPr lang="zh-CN" altLang="en-US" sz="3600" b="0" i="0" dirty="0">
                <a:solidFill>
                  <a:srgbClr val="0000FF">
                    <a:alpha val="100000"/>
                  </a:srgbClr>
                </a:solidFill>
                <a:latin typeface="黑体"/>
                <a:ea typeface="黑体"/>
              </a:rPr>
              <a:t>从题目中，你知道了什么？</a:t>
            </a:r>
          </a:p>
        </p:txBody>
      </p:sp>
      <p:pic>
        <p:nvPicPr>
          <p:cNvPr id="22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050" y="4581128"/>
            <a:ext cx="1653620" cy="1722396"/>
          </a:xfrm>
          <a:prstGeom prst="rect">
            <a:avLst/>
          </a:prstGeom>
        </p:spPr>
      </p:pic>
      <p:grpSp>
        <p:nvGrpSpPr>
          <p:cNvPr id="23" name="组合2"/>
          <p:cNvGrpSpPr/>
          <p:nvPr/>
        </p:nvGrpSpPr>
        <p:grpSpPr>
          <a:xfrm>
            <a:off x="2760775" y="5101181"/>
            <a:ext cx="6971311" cy="1278596"/>
            <a:chOff x="0" y="0"/>
            <a:chExt cx="6971311" cy="1278596"/>
          </a:xfrm>
        </p:grpSpPr>
        <p:sp>
          <p:nvSpPr>
            <p:cNvPr id="24" name="形状9"/>
            <p:cNvSpPr txBox="1"/>
            <p:nvPr/>
          </p:nvSpPr>
          <p:spPr>
            <a:xfrm>
              <a:off x="0" y="17979"/>
              <a:ext cx="6971311" cy="646331"/>
            </a:xfrm>
            <a:prstGeom prst="wedgeRoundRectCallout">
              <a:avLst/>
            </a:prstGeom>
            <a:solidFill>
              <a:srgbClr val="FFFFFF">
                <a:alpha val="100000"/>
              </a:srgbClr>
            </a:solidFill>
            <a:ln w="19050">
              <a:solidFill>
                <a:srgbClr val="3399FF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  <p:sp>
          <p:nvSpPr>
            <p:cNvPr id="25" name="文本8"/>
            <p:cNvSpPr txBox="1"/>
            <p:nvPr/>
          </p:nvSpPr>
          <p:spPr>
            <a:xfrm>
              <a:off x="27741" y="0"/>
              <a:ext cx="6908208" cy="127859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4200"/>
                </a:lnSpc>
              </a:pPr>
              <a:r>
                <a:rPr lang="zh-CN" altLang="en-US" sz="3200" b="1" i="0" dirty="0">
                  <a:solidFill>
                    <a:srgbClr val="000000">
                      <a:alpha val="100000"/>
                    </a:srgbClr>
                  </a:solidFill>
                  <a:latin typeface="楷体"/>
                  <a:ea typeface="楷体"/>
                </a:rPr>
                <a:t>每行、每列、每宫都有</a:t>
              </a:r>
              <a:r>
                <a:rPr lang="zh-CN" altLang="en-US" sz="3200" b="1" i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</a:rPr>
                <a:t>1~4</a:t>
              </a:r>
              <a:r>
                <a:rPr lang="zh-CN" altLang="en-US" sz="3200" b="1" i="0" dirty="0">
                  <a:solidFill>
                    <a:srgbClr val="000000">
                      <a:alpha val="100000"/>
                    </a:srgbClr>
                  </a:solidFill>
                  <a:latin typeface="楷体"/>
                  <a:ea typeface="楷体"/>
                </a:rPr>
                <a:t>这四个数。</a:t>
              </a:r>
            </a:p>
          </p:txBody>
        </p:sp>
      </p:grpSp>
      <p:grpSp>
        <p:nvGrpSpPr>
          <p:cNvPr id="26" name="组合3"/>
          <p:cNvGrpSpPr/>
          <p:nvPr/>
        </p:nvGrpSpPr>
        <p:grpSpPr>
          <a:xfrm>
            <a:off x="2760775" y="4802629"/>
            <a:ext cx="5155055" cy="1280166"/>
            <a:chOff x="0" y="0"/>
            <a:chExt cx="5155055" cy="1280166"/>
          </a:xfrm>
        </p:grpSpPr>
        <p:sp>
          <p:nvSpPr>
            <p:cNvPr id="27" name="形状10"/>
            <p:cNvSpPr txBox="1"/>
            <p:nvPr/>
          </p:nvSpPr>
          <p:spPr>
            <a:xfrm>
              <a:off x="0" y="0"/>
              <a:ext cx="5155055" cy="1268572"/>
            </a:xfrm>
            <a:prstGeom prst="wedgeRoundRectCallout">
              <a:avLst/>
            </a:prstGeom>
            <a:solidFill>
              <a:srgbClr val="FFFFFF">
                <a:alpha val="100000"/>
              </a:srgbClr>
            </a:solidFill>
            <a:ln w="19050">
              <a:solidFill>
                <a:srgbClr val="3399FF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  <p:sp>
          <p:nvSpPr>
            <p:cNvPr id="28" name="文本9"/>
            <p:cNvSpPr txBox="1"/>
            <p:nvPr/>
          </p:nvSpPr>
          <p:spPr>
            <a:xfrm>
              <a:off x="58117" y="12397"/>
              <a:ext cx="5031202" cy="1267769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4200"/>
                </a:lnSpc>
              </a:pPr>
              <a:r>
                <a:rPr lang="zh-CN" altLang="en-US" sz="3200" b="1" i="0" dirty="0">
                  <a:solidFill>
                    <a:srgbClr val="000000">
                      <a:alpha val="100000"/>
                    </a:srgbClr>
                  </a:solidFill>
                  <a:latin typeface="楷体"/>
                  <a:ea typeface="楷体"/>
                </a:rPr>
                <a:t>并且每个数在每行、每列、每宫都只出现一次。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52" dur="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3" grpId="1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0" y="4233"/>
            <a:ext cx="12192000" cy="6858000"/>
          </a:xfrm>
          <a:prstGeom prst="rect">
            <a:avLst/>
          </a:prstGeom>
          <a:solidFill>
            <a:srgbClr val="22C0C4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endParaRPr/>
          </a:p>
        </p:txBody>
      </p:sp>
      <p:pic>
        <p:nvPicPr>
          <p:cNvPr id="3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2" y="-162984"/>
            <a:ext cx="12323233" cy="7217835"/>
          </a:xfrm>
          <a:prstGeom prst="rect">
            <a:avLst/>
          </a:prstGeom>
        </p:spPr>
      </p:pic>
      <p:graphicFrame>
        <p:nvGraphicFramePr>
          <p:cNvPr id="4" name="表格1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1199456" y="1989000"/>
          <a:ext cx="288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8228506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63841048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516595860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" name="组合1"/>
          <p:cNvGrpSpPr/>
          <p:nvPr/>
        </p:nvGrpSpPr>
        <p:grpSpPr>
          <a:xfrm>
            <a:off x="695400" y="585913"/>
            <a:ext cx="2568302" cy="867026"/>
            <a:chOff x="0" y="0"/>
            <a:chExt cx="2568302" cy="867026"/>
          </a:xfrm>
        </p:grpSpPr>
        <p:sp>
          <p:nvSpPr>
            <p:cNvPr id="6" name="形状2"/>
            <p:cNvSpPr txBox="1"/>
            <p:nvPr/>
          </p:nvSpPr>
          <p:spPr>
            <a:xfrm>
              <a:off x="0" y="34775"/>
              <a:ext cx="2450233" cy="832251"/>
            </a:xfrm>
            <a:prstGeom prst="roundRect">
              <a:avLst/>
            </a:prstGeom>
            <a:solidFill>
              <a:srgbClr val="FAE7A0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  <p:sp>
          <p:nvSpPr>
            <p:cNvPr id="7" name="文本1"/>
            <p:cNvSpPr txBox="1"/>
            <p:nvPr/>
          </p:nvSpPr>
          <p:spPr>
            <a:xfrm>
              <a:off x="118069" y="0"/>
              <a:ext cx="2450233" cy="802742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4800"/>
                </a:lnSpc>
              </a:pPr>
              <a:r>
                <a:rPr lang="zh-CN" altLang="en-US" sz="4000" b="1" i="0" dirty="0">
                  <a:solidFill>
                    <a:srgbClr val="037FB7">
                      <a:alpha val="100000"/>
                    </a:srgbClr>
                  </a:solidFill>
                  <a:latin typeface="宋体"/>
                  <a:ea typeface="宋体"/>
                </a:rPr>
                <a:t>试一试</a:t>
              </a:r>
            </a:p>
          </p:txBody>
        </p:sp>
      </p:grpSp>
      <p:pic>
        <p:nvPicPr>
          <p:cNvPr id="8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5454" y="836712"/>
            <a:ext cx="1903074" cy="2045185"/>
          </a:xfrm>
          <a:prstGeom prst="rect">
            <a:avLst/>
          </a:prstGeom>
        </p:spPr>
      </p:pic>
      <p:grpSp>
        <p:nvGrpSpPr>
          <p:cNvPr id="9" name="组合2"/>
          <p:cNvGrpSpPr/>
          <p:nvPr/>
        </p:nvGrpSpPr>
        <p:grpSpPr>
          <a:xfrm>
            <a:off x="4082945" y="983700"/>
            <a:ext cx="4949056" cy="729134"/>
            <a:chOff x="0" y="0"/>
            <a:chExt cx="4949056" cy="729134"/>
          </a:xfrm>
        </p:grpSpPr>
        <p:sp>
          <p:nvSpPr>
            <p:cNvPr id="10" name="形状3"/>
            <p:cNvSpPr txBox="1"/>
            <p:nvPr/>
          </p:nvSpPr>
          <p:spPr>
            <a:xfrm>
              <a:off x="0" y="17979"/>
              <a:ext cx="4949056" cy="646331"/>
            </a:xfrm>
            <a:prstGeom prst="wedgeRoundRectCallout">
              <a:avLst/>
            </a:prstGeom>
            <a:solidFill>
              <a:srgbClr val="FFFFFF">
                <a:alpha val="100000"/>
              </a:srgbClr>
            </a:solidFill>
            <a:ln w="19050">
              <a:solidFill>
                <a:srgbClr val="3399FF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  <p:sp>
          <p:nvSpPr>
            <p:cNvPr id="11" name="文本2"/>
            <p:cNvSpPr txBox="1"/>
            <p:nvPr/>
          </p:nvSpPr>
          <p:spPr>
            <a:xfrm>
              <a:off x="27741" y="0"/>
              <a:ext cx="4885953" cy="729134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4200"/>
                </a:lnSpc>
              </a:pPr>
              <a:r>
                <a:rPr lang="zh-CN" altLang="en-US" sz="3200" b="1" i="0" dirty="0">
                  <a:solidFill>
                    <a:srgbClr val="000000">
                      <a:alpha val="100000"/>
                    </a:srgbClr>
                  </a:solidFill>
                  <a:latin typeface="楷体"/>
                  <a:ea typeface="楷体"/>
                </a:rPr>
                <a:t>从哪里入手会比较好填？</a:t>
              </a:r>
            </a:p>
          </p:txBody>
        </p:sp>
      </p:grpSp>
      <p:grpSp>
        <p:nvGrpSpPr>
          <p:cNvPr id="12" name="组合3"/>
          <p:cNvGrpSpPr/>
          <p:nvPr/>
        </p:nvGrpSpPr>
        <p:grpSpPr>
          <a:xfrm>
            <a:off x="4872186" y="3496191"/>
            <a:ext cx="6480720" cy="2360130"/>
            <a:chOff x="0" y="0"/>
            <a:chExt cx="6480720" cy="2360130"/>
          </a:xfrm>
        </p:grpSpPr>
        <p:sp>
          <p:nvSpPr>
            <p:cNvPr id="13" name="形状4"/>
            <p:cNvSpPr txBox="1"/>
            <p:nvPr/>
          </p:nvSpPr>
          <p:spPr>
            <a:xfrm>
              <a:off x="0" y="0"/>
              <a:ext cx="6480720" cy="2360130"/>
            </a:xfrm>
            <a:prstGeom prst="flowChartAlternateProcess">
              <a:avLst/>
            </a:prstGeom>
            <a:solidFill>
              <a:srgbClr val="FBE5D6">
                <a:alpha val="100000"/>
              </a:srgbClr>
            </a:solidFill>
            <a:ln w="19050">
              <a:solidFill>
                <a:srgbClr val="3333CC">
                  <a:alpha val="100000"/>
                </a:srgbClr>
              </a:solidFill>
              <a:prstDash val="sysDash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  <p:sp>
          <p:nvSpPr>
            <p:cNvPr id="14" name="文本3"/>
            <p:cNvSpPr txBox="1"/>
            <p:nvPr/>
          </p:nvSpPr>
          <p:spPr>
            <a:xfrm>
              <a:off x="111400" y="65680"/>
              <a:ext cx="6250301" cy="2129711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l">
                <a:lnSpc>
                  <a:spcPts val="4600"/>
                </a:lnSpc>
              </a:pPr>
              <a:r>
                <a:rPr lang="zh-CN" altLang="en-US" sz="3200" b="1" i="0" dirty="0">
                  <a:solidFill>
                    <a:srgbClr val="3333CC">
                      <a:alpha val="100000"/>
                    </a:srgbClr>
                  </a:solidFill>
                  <a:latin typeface="等线"/>
                  <a:ea typeface="等线"/>
                </a:rPr>
                <a:t>活动要求：</a:t>
              </a:r>
            </a:p>
            <a:p>
              <a:pPr marL="0" algn="l">
                <a:lnSpc>
                  <a:spcPts val="4600"/>
                </a:lnSpc>
              </a:pPr>
              <a:r>
                <a:rPr lang="zh-CN" altLang="en-US" sz="3200" b="1" i="0" dirty="0">
                  <a:solidFill>
                    <a:srgbClr val="3333CC">
                      <a:alpha val="100000"/>
                    </a:srgbClr>
                  </a:solidFill>
                  <a:latin typeface="等线"/>
                  <a:ea typeface="等线"/>
                </a:rPr>
                <a:t>1.用你的方法尝试推理填一填。</a:t>
              </a:r>
            </a:p>
            <a:p>
              <a:pPr marL="0" algn="l">
                <a:lnSpc>
                  <a:spcPts val="4600"/>
                </a:lnSpc>
              </a:pPr>
              <a:r>
                <a:rPr lang="zh-CN" altLang="en-US" sz="3200" b="1" i="0" dirty="0">
                  <a:solidFill>
                    <a:srgbClr val="3333CC">
                      <a:alpha val="100000"/>
                    </a:srgbClr>
                  </a:solidFill>
                  <a:latin typeface="等线"/>
                  <a:ea typeface="等线"/>
                </a:rPr>
                <a:t>2.填完后跟同桌交流自己的想法。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0" y="4233"/>
            <a:ext cx="12192000" cy="6858000"/>
          </a:xfrm>
          <a:prstGeom prst="rect">
            <a:avLst/>
          </a:prstGeom>
          <a:solidFill>
            <a:srgbClr val="22C0C4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endParaRPr/>
          </a:p>
        </p:txBody>
      </p:sp>
      <p:pic>
        <p:nvPicPr>
          <p:cNvPr id="3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2" y="-162984"/>
            <a:ext cx="12323233" cy="7217835"/>
          </a:xfrm>
          <a:prstGeom prst="rect">
            <a:avLst/>
          </a:prstGeom>
        </p:spPr>
      </p:pic>
      <p:grpSp>
        <p:nvGrpSpPr>
          <p:cNvPr id="4" name="组合1"/>
          <p:cNvGrpSpPr/>
          <p:nvPr/>
        </p:nvGrpSpPr>
        <p:grpSpPr>
          <a:xfrm>
            <a:off x="372170" y="620526"/>
            <a:ext cx="2539835" cy="867026"/>
            <a:chOff x="0" y="0"/>
            <a:chExt cx="2539835" cy="867026"/>
          </a:xfrm>
        </p:grpSpPr>
        <p:sp>
          <p:nvSpPr>
            <p:cNvPr id="5" name="形状2"/>
            <p:cNvSpPr txBox="1"/>
            <p:nvPr/>
          </p:nvSpPr>
          <p:spPr>
            <a:xfrm>
              <a:off x="89602" y="34775"/>
              <a:ext cx="2450233" cy="832251"/>
            </a:xfrm>
            <a:prstGeom prst="roundRect">
              <a:avLst/>
            </a:prstGeom>
            <a:solidFill>
              <a:srgbClr val="FAE7A0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  <p:sp>
          <p:nvSpPr>
            <p:cNvPr id="6" name="文本1"/>
            <p:cNvSpPr txBox="1"/>
            <p:nvPr/>
          </p:nvSpPr>
          <p:spPr>
            <a:xfrm>
              <a:off x="0" y="0"/>
              <a:ext cx="2450233" cy="802742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4800"/>
                </a:lnSpc>
              </a:pPr>
              <a:r>
                <a:rPr lang="zh-CN" altLang="en-US" sz="4000" b="1" i="0" dirty="0">
                  <a:solidFill>
                    <a:srgbClr val="037FB7">
                      <a:alpha val="100000"/>
                    </a:srgbClr>
                  </a:solidFill>
                  <a:latin typeface="宋体"/>
                  <a:ea typeface="宋体"/>
                </a:rPr>
                <a:t>试一试</a:t>
              </a:r>
            </a:p>
          </p:txBody>
        </p:sp>
      </p:grpSp>
      <p:grpSp>
        <p:nvGrpSpPr>
          <p:cNvPr id="7" name="组合3"/>
          <p:cNvGrpSpPr/>
          <p:nvPr/>
        </p:nvGrpSpPr>
        <p:grpSpPr>
          <a:xfrm>
            <a:off x="2417197" y="5170532"/>
            <a:ext cx="2764046" cy="712842"/>
            <a:chOff x="0" y="0"/>
            <a:chExt cx="2764046" cy="712842"/>
          </a:xfrm>
        </p:grpSpPr>
        <p:sp>
          <p:nvSpPr>
            <p:cNvPr id="8" name="形状3"/>
            <p:cNvSpPr txBox="1"/>
            <p:nvPr/>
          </p:nvSpPr>
          <p:spPr>
            <a:xfrm>
              <a:off x="0" y="66511"/>
              <a:ext cx="2736304" cy="646331"/>
            </a:xfrm>
            <a:prstGeom prst="roundRect">
              <a:avLst/>
            </a:prstGeom>
            <a:solidFill>
              <a:srgbClr val="FBE5D6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  <p:sp>
          <p:nvSpPr>
            <p:cNvPr id="9" name="文本2"/>
            <p:cNvSpPr txBox="1"/>
            <p:nvPr/>
          </p:nvSpPr>
          <p:spPr>
            <a:xfrm>
              <a:off x="27742" y="0"/>
              <a:ext cx="2736304" cy="680293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3800"/>
                </a:lnSpc>
              </a:pPr>
              <a:r>
                <a:rPr lang="zh-CN" altLang="en-US" sz="3200" b="0" i="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</a:rPr>
                <a:t>找三定一法</a:t>
              </a:r>
            </a:p>
          </p:txBody>
        </p:sp>
      </p:grpSp>
      <p:graphicFrame>
        <p:nvGraphicFramePr>
          <p:cNvPr id="10" name="表格2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2239766" y="1865757"/>
          <a:ext cx="3118124" cy="31185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531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79531">
                  <a:extLst>
                    <a:ext uri="{9D8B030D-6E8A-4147-A177-3AD203B41FA5}">
                      <a16:colId xmlns:a16="http://schemas.microsoft.com/office/drawing/2014/main" val="2605386720"/>
                    </a:ext>
                  </a:extLst>
                </a:gridCol>
                <a:gridCol w="779531">
                  <a:extLst>
                    <a:ext uri="{9D8B030D-6E8A-4147-A177-3AD203B41FA5}">
                      <a16:colId xmlns:a16="http://schemas.microsoft.com/office/drawing/2014/main" val="4036873005"/>
                    </a:ext>
                  </a:extLst>
                </a:gridCol>
                <a:gridCol w="779531">
                  <a:extLst>
                    <a:ext uri="{9D8B030D-6E8A-4147-A177-3AD203B41FA5}">
                      <a16:colId xmlns:a16="http://schemas.microsoft.com/office/drawing/2014/main" val="2079455875"/>
                    </a:ext>
                  </a:extLst>
                </a:gridCol>
              </a:tblGrid>
              <a:tr h="779631"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9630">
                <a:tc>
                  <a:txBody>
                    <a:bodyPr/>
                    <a:lstStyle/>
                    <a:p>
                      <a:pPr marL="0" algn="ctr"/>
                      <a:endParaRPr/>
                    </a:p>
                  </a:txBody>
                  <a:tcPr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9631"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9631"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1" name="组合4"/>
          <p:cNvGrpSpPr/>
          <p:nvPr/>
        </p:nvGrpSpPr>
        <p:grpSpPr>
          <a:xfrm>
            <a:off x="6977577" y="5239893"/>
            <a:ext cx="2764045" cy="712842"/>
            <a:chOff x="0" y="0"/>
            <a:chExt cx="2764045" cy="712842"/>
          </a:xfrm>
        </p:grpSpPr>
        <p:sp>
          <p:nvSpPr>
            <p:cNvPr id="12" name="形状4"/>
            <p:cNvSpPr txBox="1"/>
            <p:nvPr/>
          </p:nvSpPr>
          <p:spPr>
            <a:xfrm>
              <a:off x="0" y="66511"/>
              <a:ext cx="2736304" cy="646331"/>
            </a:xfrm>
            <a:prstGeom prst="roundRect">
              <a:avLst/>
            </a:prstGeom>
            <a:solidFill>
              <a:srgbClr val="FBE5D6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  <p:sp>
          <p:nvSpPr>
            <p:cNvPr id="13" name="文本3"/>
            <p:cNvSpPr txBox="1"/>
            <p:nvPr/>
          </p:nvSpPr>
          <p:spPr>
            <a:xfrm>
              <a:off x="27741" y="0"/>
              <a:ext cx="2736304" cy="680293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3800"/>
                </a:lnSpc>
              </a:pPr>
              <a:r>
                <a:rPr lang="zh-CN" altLang="en-US" sz="3200" b="0" i="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</a:rPr>
                <a:t>宫内排除法</a:t>
              </a:r>
            </a:p>
          </p:txBody>
        </p:sp>
      </p:grpSp>
      <p:graphicFrame>
        <p:nvGraphicFramePr>
          <p:cNvPr id="14" name="表格3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6800269" y="1865890"/>
          <a:ext cx="3118124" cy="31185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531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79531">
                  <a:extLst>
                    <a:ext uri="{9D8B030D-6E8A-4147-A177-3AD203B41FA5}">
                      <a16:colId xmlns:a16="http://schemas.microsoft.com/office/drawing/2014/main" val="1176378472"/>
                    </a:ext>
                  </a:extLst>
                </a:gridCol>
                <a:gridCol w="779531">
                  <a:extLst>
                    <a:ext uri="{9D8B030D-6E8A-4147-A177-3AD203B41FA5}">
                      <a16:colId xmlns:a16="http://schemas.microsoft.com/office/drawing/2014/main" val="2320919551"/>
                    </a:ext>
                  </a:extLst>
                </a:gridCol>
                <a:gridCol w="779531">
                  <a:extLst>
                    <a:ext uri="{9D8B030D-6E8A-4147-A177-3AD203B41FA5}">
                      <a16:colId xmlns:a16="http://schemas.microsoft.com/office/drawing/2014/main" val="1884173347"/>
                    </a:ext>
                  </a:extLst>
                </a:gridCol>
              </a:tblGrid>
              <a:tr h="779631"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9630"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9631"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9631"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0" y="4233"/>
            <a:ext cx="12192000" cy="6858000"/>
          </a:xfrm>
          <a:prstGeom prst="rect">
            <a:avLst/>
          </a:prstGeom>
          <a:solidFill>
            <a:srgbClr val="22C0C4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endParaRPr/>
          </a:p>
        </p:txBody>
      </p:sp>
      <p:pic>
        <p:nvPicPr>
          <p:cNvPr id="3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79918"/>
            <a:ext cx="12323233" cy="7217835"/>
          </a:xfrm>
          <a:prstGeom prst="rect">
            <a:avLst/>
          </a:prstGeom>
        </p:spPr>
      </p:pic>
      <p:grpSp>
        <p:nvGrpSpPr>
          <p:cNvPr id="4" name="组合1"/>
          <p:cNvGrpSpPr/>
          <p:nvPr/>
        </p:nvGrpSpPr>
        <p:grpSpPr>
          <a:xfrm>
            <a:off x="372170" y="620526"/>
            <a:ext cx="2539835" cy="867026"/>
            <a:chOff x="0" y="0"/>
            <a:chExt cx="2539835" cy="867026"/>
          </a:xfrm>
        </p:grpSpPr>
        <p:sp>
          <p:nvSpPr>
            <p:cNvPr id="5" name="形状2"/>
            <p:cNvSpPr txBox="1"/>
            <p:nvPr/>
          </p:nvSpPr>
          <p:spPr>
            <a:xfrm>
              <a:off x="89602" y="34775"/>
              <a:ext cx="2450233" cy="832251"/>
            </a:xfrm>
            <a:prstGeom prst="roundRect">
              <a:avLst/>
            </a:prstGeom>
            <a:solidFill>
              <a:srgbClr val="FAE7A0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  <p:sp>
          <p:nvSpPr>
            <p:cNvPr id="6" name="文本1"/>
            <p:cNvSpPr txBox="1"/>
            <p:nvPr/>
          </p:nvSpPr>
          <p:spPr>
            <a:xfrm>
              <a:off x="0" y="0"/>
              <a:ext cx="2450233" cy="802742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4800"/>
                </a:lnSpc>
              </a:pPr>
              <a:r>
                <a:rPr lang="zh-CN" altLang="en-US" sz="4000" b="1" dirty="0">
                  <a:solidFill>
                    <a:srgbClr val="037FB7">
                      <a:alpha val="100000"/>
                    </a:srgbClr>
                  </a:solidFill>
                  <a:latin typeface="宋体"/>
                  <a:ea typeface="宋体"/>
                </a:rPr>
                <a:t>理一理</a:t>
              </a:r>
              <a:endParaRPr lang="zh-CN" altLang="en-US" sz="4000" b="1" i="0" dirty="0">
                <a:solidFill>
                  <a:srgbClr val="037FB7">
                    <a:alpha val="100000"/>
                  </a:srgbClr>
                </a:solidFill>
                <a:latin typeface="宋体"/>
                <a:ea typeface="宋体"/>
              </a:endParaRPr>
            </a:p>
          </p:txBody>
        </p:sp>
      </p:grpSp>
      <p:grpSp>
        <p:nvGrpSpPr>
          <p:cNvPr id="7" name="组合3"/>
          <p:cNvGrpSpPr/>
          <p:nvPr/>
        </p:nvGrpSpPr>
        <p:grpSpPr>
          <a:xfrm>
            <a:off x="461772" y="2271653"/>
            <a:ext cx="2764045" cy="832251"/>
            <a:chOff x="0" y="2227"/>
            <a:chExt cx="2764045" cy="710615"/>
          </a:xfrm>
        </p:grpSpPr>
        <p:sp>
          <p:nvSpPr>
            <p:cNvPr id="8" name="形状3"/>
            <p:cNvSpPr txBox="1"/>
            <p:nvPr/>
          </p:nvSpPr>
          <p:spPr>
            <a:xfrm>
              <a:off x="0" y="66511"/>
              <a:ext cx="2736304" cy="646331"/>
            </a:xfrm>
            <a:prstGeom prst="roundRect">
              <a:avLst/>
            </a:prstGeom>
            <a:solidFill>
              <a:srgbClr val="FBE5D6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  <p:sp>
          <p:nvSpPr>
            <p:cNvPr id="9" name="文本2"/>
            <p:cNvSpPr txBox="1"/>
            <p:nvPr/>
          </p:nvSpPr>
          <p:spPr>
            <a:xfrm>
              <a:off x="27741" y="2227"/>
              <a:ext cx="2736304" cy="680293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3800"/>
                </a:lnSpc>
              </a:pPr>
              <a:r>
                <a:rPr lang="zh-CN" altLang="en-US" sz="3200" b="1" i="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</a:rPr>
                <a:t>找三定一法</a:t>
              </a:r>
            </a:p>
          </p:txBody>
        </p:sp>
      </p:grpSp>
      <p:grpSp>
        <p:nvGrpSpPr>
          <p:cNvPr id="11" name="组合4"/>
          <p:cNvGrpSpPr/>
          <p:nvPr/>
        </p:nvGrpSpPr>
        <p:grpSpPr>
          <a:xfrm>
            <a:off x="461772" y="4607410"/>
            <a:ext cx="2736304" cy="680293"/>
            <a:chOff x="0" y="32549"/>
            <a:chExt cx="2736304" cy="680293"/>
          </a:xfrm>
        </p:grpSpPr>
        <p:sp>
          <p:nvSpPr>
            <p:cNvPr id="12" name="形状4"/>
            <p:cNvSpPr txBox="1"/>
            <p:nvPr/>
          </p:nvSpPr>
          <p:spPr>
            <a:xfrm>
              <a:off x="0" y="66511"/>
              <a:ext cx="2736304" cy="646331"/>
            </a:xfrm>
            <a:prstGeom prst="roundRect">
              <a:avLst/>
            </a:prstGeom>
            <a:solidFill>
              <a:srgbClr val="FBE5D6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  <p:sp>
          <p:nvSpPr>
            <p:cNvPr id="13" name="文本3"/>
            <p:cNvSpPr txBox="1"/>
            <p:nvPr/>
          </p:nvSpPr>
          <p:spPr>
            <a:xfrm>
              <a:off x="0" y="32549"/>
              <a:ext cx="2736304" cy="680293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3800"/>
                </a:lnSpc>
              </a:pPr>
              <a:r>
                <a:rPr lang="zh-CN" altLang="en-US" sz="3200" b="0" i="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</a:rPr>
                <a:t>宫内排除法</a:t>
              </a: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A2C1DC96-84A6-E2F3-2CC7-00D2A4ACFE8F}"/>
              </a:ext>
            </a:extLst>
          </p:cNvPr>
          <p:cNvSpPr txBox="1"/>
          <p:nvPr/>
        </p:nvSpPr>
        <p:spPr>
          <a:xfrm>
            <a:off x="4106173" y="2346939"/>
            <a:ext cx="7151299" cy="107721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一个空格所在的行、列、宫有</a:t>
            </a:r>
            <a:r>
              <a:rPr lang="en-US" altLang="zh-CN" sz="3200" dirty="0"/>
              <a:t>3</a:t>
            </a:r>
            <a:r>
              <a:rPr lang="zh-CN" altLang="en-US" sz="3200" dirty="0"/>
              <a:t>个不同的数，则空格内必定是第四个数。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1B52E97-4E53-6367-E23E-01FFAF3AFCEE}"/>
              </a:ext>
            </a:extLst>
          </p:cNvPr>
          <p:cNvSpPr txBox="1"/>
          <p:nvPr/>
        </p:nvSpPr>
        <p:spPr>
          <a:xfrm>
            <a:off x="4761782" y="3961079"/>
            <a:ext cx="6072996" cy="156966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排除行列内相同数字的无效格，那么交叉的宫内剩下的一个格子就是该数字。</a:t>
            </a:r>
          </a:p>
        </p:txBody>
      </p:sp>
    </p:spTree>
    <p:extLst>
      <p:ext uri="{BB962C8B-B14F-4D97-AF65-F5344CB8AC3E}">
        <p14:creationId xmlns:p14="http://schemas.microsoft.com/office/powerpoint/2010/main" val="4136084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0" y="4233"/>
            <a:ext cx="12192000" cy="6858000"/>
          </a:xfrm>
          <a:prstGeom prst="rect">
            <a:avLst/>
          </a:prstGeom>
          <a:solidFill>
            <a:srgbClr val="22C0C4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endParaRPr/>
          </a:p>
        </p:txBody>
      </p:sp>
      <p:pic>
        <p:nvPicPr>
          <p:cNvPr id="3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2" y="-162984"/>
            <a:ext cx="12323233" cy="7217835"/>
          </a:xfrm>
          <a:prstGeom prst="rect">
            <a:avLst/>
          </a:prstGeom>
        </p:spPr>
      </p:pic>
      <p:grpSp>
        <p:nvGrpSpPr>
          <p:cNvPr id="4" name="组合1"/>
          <p:cNvGrpSpPr/>
          <p:nvPr/>
        </p:nvGrpSpPr>
        <p:grpSpPr>
          <a:xfrm>
            <a:off x="4578574" y="165857"/>
            <a:ext cx="3034853" cy="814871"/>
            <a:chOff x="0" y="0"/>
            <a:chExt cx="3034853" cy="814871"/>
          </a:xfrm>
        </p:grpSpPr>
        <p:sp>
          <p:nvSpPr>
            <p:cNvPr id="5" name="形状5"/>
            <p:cNvSpPr txBox="1"/>
            <p:nvPr/>
          </p:nvSpPr>
          <p:spPr>
            <a:xfrm>
              <a:off x="47698" y="0"/>
              <a:ext cx="2987155" cy="765515"/>
            </a:xfrm>
            <a:prstGeom prst="rect">
              <a:avLst/>
            </a:prstGeom>
            <a:solidFill>
              <a:srgbClr val="118A8D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  <p:sp>
          <p:nvSpPr>
            <p:cNvPr id="6" name="形状6"/>
            <p:cNvSpPr txBox="1"/>
            <p:nvPr/>
          </p:nvSpPr>
          <p:spPr>
            <a:xfrm>
              <a:off x="0" y="49356"/>
              <a:ext cx="2987155" cy="7655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118A8D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</p:grpSp>
      <p:pic>
        <p:nvPicPr>
          <p:cNvPr id="7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628928">
            <a:off x="6842525" y="-97654"/>
            <a:ext cx="1056178" cy="1069464"/>
          </a:xfrm>
          <a:prstGeom prst="rect">
            <a:avLst/>
          </a:prstGeom>
        </p:spPr>
      </p:pic>
      <p:sp>
        <p:nvSpPr>
          <p:cNvPr id="8" name="形状2"/>
          <p:cNvSpPr txBox="1"/>
          <p:nvPr/>
        </p:nvSpPr>
        <p:spPr>
          <a:xfrm>
            <a:off x="4937691" y="918568"/>
            <a:ext cx="2316619" cy="1905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CAD7D7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  <a:endParaRPr/>
          </a:p>
        </p:txBody>
      </p:sp>
      <p:sp>
        <p:nvSpPr>
          <p:cNvPr id="9" name="文本1"/>
          <p:cNvSpPr txBox="1"/>
          <p:nvPr/>
        </p:nvSpPr>
        <p:spPr>
          <a:xfrm>
            <a:off x="4596959" y="195449"/>
            <a:ext cx="3180963" cy="898386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4800"/>
              </a:lnSpc>
            </a:pPr>
            <a:r>
              <a:rPr lang="zh-CN" altLang="en-US" sz="40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拓展练习</a:t>
            </a:r>
          </a:p>
        </p:txBody>
      </p:sp>
      <p:grpSp>
        <p:nvGrpSpPr>
          <p:cNvPr id="10" name="组合2"/>
          <p:cNvGrpSpPr/>
          <p:nvPr/>
        </p:nvGrpSpPr>
        <p:grpSpPr>
          <a:xfrm>
            <a:off x="695400" y="585913"/>
            <a:ext cx="3286421" cy="867026"/>
            <a:chOff x="0" y="0"/>
            <a:chExt cx="3286421" cy="867026"/>
          </a:xfrm>
        </p:grpSpPr>
        <p:sp>
          <p:nvSpPr>
            <p:cNvPr id="11" name="形状7"/>
            <p:cNvSpPr txBox="1"/>
            <p:nvPr/>
          </p:nvSpPr>
          <p:spPr>
            <a:xfrm>
              <a:off x="0" y="34775"/>
              <a:ext cx="3168352" cy="832251"/>
            </a:xfrm>
            <a:prstGeom prst="roundRect">
              <a:avLst/>
            </a:prstGeom>
            <a:solidFill>
              <a:srgbClr val="FAE7A0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  <p:sp>
          <p:nvSpPr>
            <p:cNvPr id="12" name="文本33"/>
            <p:cNvSpPr txBox="1"/>
            <p:nvPr/>
          </p:nvSpPr>
          <p:spPr>
            <a:xfrm>
              <a:off x="118069" y="0"/>
              <a:ext cx="3168352" cy="802742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4800"/>
                </a:lnSpc>
              </a:pPr>
              <a:r>
                <a:rPr lang="zh-CN" altLang="en-US" sz="4000" b="1" i="0" dirty="0">
                  <a:solidFill>
                    <a:srgbClr val="037FB7">
                      <a:alpha val="100000"/>
                    </a:srgbClr>
                  </a:solidFill>
                  <a:latin typeface="宋体"/>
                  <a:ea typeface="宋体"/>
                </a:rPr>
                <a:t>挑战自我</a:t>
              </a:r>
            </a:p>
          </p:txBody>
        </p:sp>
      </p:grpSp>
      <p:graphicFrame>
        <p:nvGraphicFramePr>
          <p:cNvPr id="13" name="表格1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1171746" y="2694190"/>
          <a:ext cx="288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33189202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5867095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29634488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文本2"/>
          <p:cNvSpPr txBox="1"/>
          <p:nvPr/>
        </p:nvSpPr>
        <p:spPr>
          <a:xfrm>
            <a:off x="687397" y="1725027"/>
            <a:ext cx="6400022" cy="836831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300"/>
              </a:lnSpc>
            </a:pPr>
            <a:r>
              <a:rPr lang="zh-CN" altLang="en-US" sz="3600" b="1" i="0" dirty="0">
                <a:solidFill>
                  <a:srgbClr val="231F20">
                    <a:alpha val="100000"/>
                  </a:srgbClr>
                </a:solidFill>
                <a:latin typeface="Times New Roman"/>
                <a:ea typeface="Times New Roman"/>
              </a:rPr>
              <a:t>1.</a:t>
            </a:r>
            <a:r>
              <a:rPr lang="zh-CN" altLang="en-US" sz="3600" b="1" i="0" dirty="0">
                <a:solidFill>
                  <a:srgbClr val="231F20">
                    <a:alpha val="100000"/>
                  </a:srgbClr>
                </a:solidFill>
                <a:latin typeface="楷体"/>
                <a:ea typeface="楷体"/>
              </a:rPr>
              <a:t>完成下面的数独游戏。</a:t>
            </a:r>
          </a:p>
        </p:txBody>
      </p:sp>
      <p:graphicFrame>
        <p:nvGraphicFramePr>
          <p:cNvPr id="15" name="表格2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4656001" y="2709520"/>
          <a:ext cx="288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83276443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76986748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885532277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表格3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8317213" y="2709240"/>
          <a:ext cx="288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2913135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38503665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1792242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" name="组合3"/>
          <p:cNvGrpSpPr/>
          <p:nvPr/>
        </p:nvGrpSpPr>
        <p:grpSpPr>
          <a:xfrm>
            <a:off x="8396503" y="2780928"/>
            <a:ext cx="2743810" cy="2745454"/>
            <a:chOff x="0" y="0"/>
            <a:chExt cx="2743810" cy="2745454"/>
          </a:xfrm>
        </p:grpSpPr>
        <p:pic>
          <p:nvPicPr>
            <p:cNvPr id="18" name="图片3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579817" cy="608466"/>
            </a:xfrm>
            <a:prstGeom prst="rect">
              <a:avLst/>
            </a:prstGeom>
          </p:spPr>
        </p:pic>
        <p:pic>
          <p:nvPicPr>
            <p:cNvPr id="19" name="图片4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3727" y="0"/>
              <a:ext cx="579817" cy="608466"/>
            </a:xfrm>
            <a:prstGeom prst="rect">
              <a:avLst/>
            </a:prstGeom>
          </p:spPr>
        </p:pic>
        <p:pic>
          <p:nvPicPr>
            <p:cNvPr id="20" name="图片5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63993" y="0"/>
              <a:ext cx="579817" cy="608466"/>
            </a:xfrm>
            <a:prstGeom prst="rect">
              <a:avLst/>
            </a:prstGeom>
          </p:spPr>
        </p:pic>
        <p:pic>
          <p:nvPicPr>
            <p:cNvPr id="21" name="图片6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63993" y="687679"/>
              <a:ext cx="579817" cy="608466"/>
            </a:xfrm>
            <a:prstGeom prst="rect">
              <a:avLst/>
            </a:prstGeom>
          </p:spPr>
        </p:pic>
        <p:pic>
          <p:nvPicPr>
            <p:cNvPr id="22" name="图片7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43913" y="687679"/>
              <a:ext cx="579817" cy="608466"/>
            </a:xfrm>
            <a:prstGeom prst="rect">
              <a:avLst/>
            </a:prstGeom>
          </p:spPr>
        </p:pic>
        <p:pic>
          <p:nvPicPr>
            <p:cNvPr id="23" name="图片8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3726" y="687679"/>
              <a:ext cx="579817" cy="608466"/>
            </a:xfrm>
            <a:prstGeom prst="rect">
              <a:avLst/>
            </a:prstGeom>
          </p:spPr>
        </p:pic>
        <p:pic>
          <p:nvPicPr>
            <p:cNvPr id="24" name="图片9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687679"/>
              <a:ext cx="579817" cy="608466"/>
            </a:xfrm>
            <a:prstGeom prst="rect">
              <a:avLst/>
            </a:prstGeom>
          </p:spPr>
        </p:pic>
        <p:pic>
          <p:nvPicPr>
            <p:cNvPr id="25" name="图片10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3725" y="1430115"/>
              <a:ext cx="579817" cy="608466"/>
            </a:xfrm>
            <a:prstGeom prst="rect">
              <a:avLst/>
            </a:prstGeom>
          </p:spPr>
        </p:pic>
        <p:pic>
          <p:nvPicPr>
            <p:cNvPr id="26" name="图片11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43913" y="1430115"/>
              <a:ext cx="579817" cy="608466"/>
            </a:xfrm>
            <a:prstGeom prst="rect">
              <a:avLst/>
            </a:prstGeom>
          </p:spPr>
        </p:pic>
        <p:pic>
          <p:nvPicPr>
            <p:cNvPr id="27" name="图片12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43912" y="2136499"/>
              <a:ext cx="579817" cy="608466"/>
            </a:xfrm>
            <a:prstGeom prst="rect">
              <a:avLst/>
            </a:prstGeom>
          </p:spPr>
        </p:pic>
        <p:pic>
          <p:nvPicPr>
            <p:cNvPr id="28" name="图片13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58177" y="2134726"/>
              <a:ext cx="579817" cy="608466"/>
            </a:xfrm>
            <a:prstGeom prst="rect">
              <a:avLst/>
            </a:prstGeom>
          </p:spPr>
        </p:pic>
        <p:pic>
          <p:nvPicPr>
            <p:cNvPr id="29" name="图片14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3724" y="2136988"/>
              <a:ext cx="579817" cy="6084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0" y="4233"/>
            <a:ext cx="12192000" cy="6858000"/>
          </a:xfrm>
          <a:prstGeom prst="rect">
            <a:avLst/>
          </a:prstGeom>
          <a:solidFill>
            <a:srgbClr val="22C0C4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endParaRPr/>
          </a:p>
        </p:txBody>
      </p:sp>
      <p:pic>
        <p:nvPicPr>
          <p:cNvPr id="3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2" y="-162984"/>
            <a:ext cx="12323233" cy="7217835"/>
          </a:xfrm>
          <a:prstGeom prst="rect">
            <a:avLst/>
          </a:prstGeom>
        </p:spPr>
      </p:pic>
      <p:graphicFrame>
        <p:nvGraphicFramePr>
          <p:cNvPr id="4" name="表格1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839416" y="764704"/>
          <a:ext cx="1801260" cy="180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42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2362513972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2081586804"/>
                    </a:ext>
                  </a:extLst>
                </a:gridCol>
              </a:tblGrid>
              <a:tr h="601156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8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7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表格2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2640676" y="764704"/>
          <a:ext cx="1803468" cy="180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156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601156">
                  <a:extLst>
                    <a:ext uri="{9D8B030D-6E8A-4147-A177-3AD203B41FA5}">
                      <a16:colId xmlns:a16="http://schemas.microsoft.com/office/drawing/2014/main" val="3876861114"/>
                    </a:ext>
                  </a:extLst>
                </a:gridCol>
                <a:gridCol w="601156">
                  <a:extLst>
                    <a:ext uri="{9D8B030D-6E8A-4147-A177-3AD203B41FA5}">
                      <a16:colId xmlns:a16="http://schemas.microsoft.com/office/drawing/2014/main" val="3837905795"/>
                    </a:ext>
                  </a:extLst>
                </a:gridCol>
              </a:tblGrid>
              <a:tr h="601156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7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9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8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表格3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4444144" y="764704"/>
          <a:ext cx="1801260" cy="180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42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1537524562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1790829393"/>
                    </a:ext>
                  </a:extLst>
                </a:gridCol>
              </a:tblGrid>
              <a:tr h="601156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7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表格4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839416" y="2562603"/>
          <a:ext cx="1801260" cy="1805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42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1438262912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3499756387"/>
                    </a:ext>
                  </a:extLst>
                </a:gridCol>
              </a:tblGrid>
              <a:tr h="601892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7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892"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892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8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表格5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2640676" y="2562603"/>
          <a:ext cx="1803468" cy="1805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156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601156">
                  <a:extLst>
                    <a:ext uri="{9D8B030D-6E8A-4147-A177-3AD203B41FA5}">
                      <a16:colId xmlns:a16="http://schemas.microsoft.com/office/drawing/2014/main" val="3199218583"/>
                    </a:ext>
                  </a:extLst>
                </a:gridCol>
                <a:gridCol w="601156">
                  <a:extLst>
                    <a:ext uri="{9D8B030D-6E8A-4147-A177-3AD203B41FA5}">
                      <a16:colId xmlns:a16="http://schemas.microsoft.com/office/drawing/2014/main" val="162117221"/>
                    </a:ext>
                  </a:extLst>
                </a:gridCol>
              </a:tblGrid>
              <a:tr h="601892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892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8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7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892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9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表格6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4446478" y="2559428"/>
          <a:ext cx="1801260" cy="1805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42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1612963229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4161090531"/>
                    </a:ext>
                  </a:extLst>
                </a:gridCol>
              </a:tblGrid>
              <a:tr h="601892"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8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892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9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892"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表格7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832755" y="4365104"/>
          <a:ext cx="1801260" cy="180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42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2570217193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908084317"/>
                    </a:ext>
                  </a:extLst>
                </a:gridCol>
              </a:tblGrid>
              <a:tr h="601156"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7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9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表格8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2638513" y="4365104"/>
          <a:ext cx="1803468" cy="180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156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601156">
                  <a:extLst>
                    <a:ext uri="{9D8B030D-6E8A-4147-A177-3AD203B41FA5}">
                      <a16:colId xmlns:a16="http://schemas.microsoft.com/office/drawing/2014/main" val="514567201"/>
                    </a:ext>
                  </a:extLst>
                </a:gridCol>
                <a:gridCol w="601156">
                  <a:extLst>
                    <a:ext uri="{9D8B030D-6E8A-4147-A177-3AD203B41FA5}">
                      <a16:colId xmlns:a16="http://schemas.microsoft.com/office/drawing/2014/main" val="1791077914"/>
                    </a:ext>
                  </a:extLst>
                </a:gridCol>
              </a:tblGrid>
              <a:tr h="601156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9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8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表格9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4446478" y="4365104"/>
          <a:ext cx="1801260" cy="180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42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2256681941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159177670"/>
                    </a:ext>
                  </a:extLst>
                </a:gridCol>
              </a:tblGrid>
              <a:tr h="601156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l"/>
                      <a:endParaRPr/>
                    </a:p>
                  </a:txBody>
                  <a:tcPr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8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9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7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文本1"/>
          <p:cNvSpPr txBox="1"/>
          <p:nvPr/>
        </p:nvSpPr>
        <p:spPr>
          <a:xfrm>
            <a:off x="6452230" y="1038317"/>
            <a:ext cx="5307261" cy="4872807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5200"/>
              </a:lnSpc>
            </a:pPr>
            <a:r>
              <a:rPr lang="zh-CN" altLang="en-US" sz="3600" b="1" i="0" dirty="0">
                <a:solidFill>
                  <a:srgbClr val="231F20">
                    <a:alpha val="100000"/>
                  </a:srgbClr>
                </a:solidFill>
                <a:latin typeface="Times New Roman"/>
                <a:ea typeface="Times New Roman"/>
              </a:rPr>
              <a:t>2*.</a:t>
            </a:r>
            <a:r>
              <a:rPr lang="zh-CN" altLang="en-US" sz="3600" b="1" i="0" dirty="0">
                <a:solidFill>
                  <a:srgbClr val="231F20">
                    <a:alpha val="100000"/>
                  </a:srgbClr>
                </a:solidFill>
                <a:latin typeface="楷体"/>
                <a:ea typeface="楷体"/>
              </a:rPr>
              <a:t>左边是数独游戏。请你用</a:t>
            </a:r>
            <a:r>
              <a:rPr lang="zh-CN" altLang="en-US" sz="3600" b="1" i="0" dirty="0">
                <a:solidFill>
                  <a:srgbClr val="231F20">
                    <a:alpha val="100000"/>
                  </a:srgbClr>
                </a:solidFill>
                <a:latin typeface="Times New Roman"/>
                <a:ea typeface="Times New Roman"/>
              </a:rPr>
              <a:t>1~9</a:t>
            </a:r>
            <a:r>
              <a:rPr lang="zh-CN" altLang="en-US" sz="3600" b="1" i="0" dirty="0">
                <a:solidFill>
                  <a:srgbClr val="231F20">
                    <a:alpha val="100000"/>
                  </a:srgbClr>
                </a:solidFill>
                <a:latin typeface="楷体"/>
                <a:ea typeface="楷体"/>
              </a:rPr>
              <a:t>九个数字填满</a:t>
            </a:r>
            <a:r>
              <a:rPr lang="zh-CN" altLang="en-US" sz="3600" b="1" i="0" dirty="0">
                <a:solidFill>
                  <a:srgbClr val="231F20">
                    <a:alpha val="100000"/>
                  </a:srgbClr>
                </a:solidFill>
                <a:latin typeface="Times New Roman"/>
                <a:ea typeface="Times New Roman"/>
              </a:rPr>
              <a:t>9</a:t>
            </a:r>
            <a:r>
              <a:rPr lang="zh-CN" altLang="en-US" sz="3600" b="1" i="0" dirty="0">
                <a:solidFill>
                  <a:srgbClr val="231F20">
                    <a:alpha val="100000"/>
                  </a:srgbClr>
                </a:solidFill>
                <a:latin typeface="楷体"/>
                <a:ea typeface="楷体"/>
              </a:rPr>
              <a:t>×</a:t>
            </a:r>
            <a:r>
              <a:rPr lang="zh-CN" altLang="en-US" sz="3600" b="1" i="0" dirty="0">
                <a:solidFill>
                  <a:srgbClr val="231F20">
                    <a:alpha val="100000"/>
                  </a:srgbClr>
                </a:solidFill>
                <a:latin typeface="Times New Roman"/>
                <a:ea typeface="Times New Roman"/>
              </a:rPr>
              <a:t>9</a:t>
            </a:r>
            <a:r>
              <a:rPr lang="zh-CN" altLang="en-US" sz="3600" b="1" i="0" dirty="0">
                <a:solidFill>
                  <a:srgbClr val="231F20">
                    <a:alpha val="100000"/>
                  </a:srgbClr>
                </a:solidFill>
                <a:latin typeface="楷体"/>
                <a:ea typeface="楷体"/>
              </a:rPr>
              <a:t>的格子，要求：每一行、每一列都要用到</a:t>
            </a:r>
            <a:r>
              <a:rPr lang="zh-CN" altLang="en-US" sz="3600" b="1" i="0" dirty="0">
                <a:solidFill>
                  <a:srgbClr val="231F20">
                    <a:alpha val="100000"/>
                  </a:srgbClr>
                </a:solidFill>
                <a:latin typeface="Times New Roman"/>
                <a:ea typeface="Times New Roman"/>
              </a:rPr>
              <a:t>1~9</a:t>
            </a:r>
            <a:r>
              <a:rPr lang="zh-CN" altLang="en-US" sz="3600" b="1" i="0" dirty="0">
                <a:solidFill>
                  <a:srgbClr val="231F20">
                    <a:alpha val="100000"/>
                  </a:srgbClr>
                </a:solidFill>
                <a:latin typeface="楷体"/>
                <a:ea typeface="楷体"/>
              </a:rPr>
              <a:t>，不能重复；每个粗线内</a:t>
            </a:r>
            <a:r>
              <a:rPr lang="zh-CN" altLang="en-US" sz="3600" b="1" i="0" dirty="0">
                <a:solidFill>
                  <a:srgbClr val="231F20">
                    <a:alpha val="100000"/>
                  </a:srgbClr>
                </a:solidFill>
                <a:latin typeface="Times New Roman"/>
                <a:ea typeface="Times New Roman"/>
              </a:rPr>
              <a:t>3</a:t>
            </a:r>
            <a:r>
              <a:rPr lang="zh-CN" altLang="en-US" sz="3600" b="1" i="0" dirty="0">
                <a:solidFill>
                  <a:srgbClr val="231F20">
                    <a:alpha val="100000"/>
                  </a:srgbClr>
                </a:solidFill>
                <a:latin typeface="楷体"/>
                <a:ea typeface="楷体"/>
              </a:rPr>
              <a:t>×</a:t>
            </a:r>
            <a:r>
              <a:rPr lang="zh-CN" altLang="en-US" sz="3600" b="1" i="0" dirty="0">
                <a:solidFill>
                  <a:srgbClr val="231F20">
                    <a:alpha val="100000"/>
                  </a:srgbClr>
                </a:solidFill>
                <a:latin typeface="Times New Roman"/>
                <a:ea typeface="Times New Roman"/>
              </a:rPr>
              <a:t>3</a:t>
            </a:r>
            <a:r>
              <a:rPr lang="zh-CN" altLang="en-US" sz="3600" b="1" i="0" dirty="0">
                <a:solidFill>
                  <a:srgbClr val="231F20">
                    <a:alpha val="100000"/>
                  </a:srgbClr>
                </a:solidFill>
                <a:latin typeface="楷体"/>
                <a:ea typeface="楷体"/>
              </a:rPr>
              <a:t>的格子也都用到</a:t>
            </a:r>
            <a:r>
              <a:rPr lang="zh-CN" altLang="en-US" sz="3600" b="1" i="0" dirty="0">
                <a:solidFill>
                  <a:srgbClr val="231F20">
                    <a:alpha val="100000"/>
                  </a:srgbClr>
                </a:solidFill>
                <a:latin typeface="Times New Roman"/>
                <a:ea typeface="Times New Roman"/>
              </a:rPr>
              <a:t>1~9</a:t>
            </a:r>
            <a:r>
              <a:rPr lang="zh-CN" altLang="en-US" sz="3600" b="1" i="0" dirty="0">
                <a:solidFill>
                  <a:srgbClr val="231F20">
                    <a:alpha val="100000"/>
                  </a:srgbClr>
                </a:solidFill>
                <a:latin typeface="楷体"/>
                <a:ea typeface="楷体"/>
              </a:rPr>
              <a:t>，不能重复。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0" y="4233"/>
            <a:ext cx="12192000" cy="6858000"/>
          </a:xfrm>
          <a:prstGeom prst="rect">
            <a:avLst/>
          </a:prstGeom>
          <a:solidFill>
            <a:srgbClr val="22C0C4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endParaRPr/>
          </a:p>
        </p:txBody>
      </p:sp>
      <p:pic>
        <p:nvPicPr>
          <p:cNvPr id="3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2" y="-162984"/>
            <a:ext cx="12323233" cy="7217835"/>
          </a:xfrm>
          <a:prstGeom prst="rect">
            <a:avLst/>
          </a:prstGeom>
        </p:spPr>
      </p:pic>
      <p:graphicFrame>
        <p:nvGraphicFramePr>
          <p:cNvPr id="4" name="表格1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839416" y="764704"/>
          <a:ext cx="1801260" cy="180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42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2242778426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1291453717"/>
                    </a:ext>
                  </a:extLst>
                </a:gridCol>
              </a:tblGrid>
              <a:tr h="601156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8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FF00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9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7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B0F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表格2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2640676" y="764704"/>
          <a:ext cx="1803468" cy="180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156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601156">
                  <a:extLst>
                    <a:ext uri="{9D8B030D-6E8A-4147-A177-3AD203B41FA5}">
                      <a16:colId xmlns:a16="http://schemas.microsoft.com/office/drawing/2014/main" val="1459293683"/>
                    </a:ext>
                  </a:extLst>
                </a:gridCol>
                <a:gridCol w="601156">
                  <a:extLst>
                    <a:ext uri="{9D8B030D-6E8A-4147-A177-3AD203B41FA5}">
                      <a16:colId xmlns:a16="http://schemas.microsoft.com/office/drawing/2014/main" val="1291158921"/>
                    </a:ext>
                  </a:extLst>
                </a:gridCol>
              </a:tblGrid>
              <a:tr h="601156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7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9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8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表格3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4444144" y="764704"/>
          <a:ext cx="1801260" cy="180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42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2944575855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667259130"/>
                    </a:ext>
                  </a:extLst>
                </a:gridCol>
              </a:tblGrid>
              <a:tr h="601156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9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B0F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8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B0F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7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表格4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839416" y="2562603"/>
          <a:ext cx="1801260" cy="1805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42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2640274513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1963514708"/>
                    </a:ext>
                  </a:extLst>
                </a:gridCol>
              </a:tblGrid>
              <a:tr h="601892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9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7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892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1CA1A4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1CA1A4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892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8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表格5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2640676" y="2562603"/>
          <a:ext cx="1803468" cy="1805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156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601156">
                  <a:extLst>
                    <a:ext uri="{9D8B030D-6E8A-4147-A177-3AD203B41FA5}">
                      <a16:colId xmlns:a16="http://schemas.microsoft.com/office/drawing/2014/main" val="4254603113"/>
                    </a:ext>
                  </a:extLst>
                </a:gridCol>
                <a:gridCol w="601156">
                  <a:extLst>
                    <a:ext uri="{9D8B030D-6E8A-4147-A177-3AD203B41FA5}">
                      <a16:colId xmlns:a16="http://schemas.microsoft.com/office/drawing/2014/main" val="4030404318"/>
                    </a:ext>
                  </a:extLst>
                </a:gridCol>
              </a:tblGrid>
              <a:tr h="601892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892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8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B0F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7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892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9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表格6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4446478" y="2559428"/>
          <a:ext cx="1801260" cy="1805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42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4071799940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598772626"/>
                    </a:ext>
                  </a:extLst>
                </a:gridCol>
              </a:tblGrid>
              <a:tr h="601892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8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892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B0F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9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892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7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表格7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832755" y="4365104"/>
          <a:ext cx="1801260" cy="180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42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3238316408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2131439675"/>
                    </a:ext>
                  </a:extLst>
                </a:gridCol>
              </a:tblGrid>
              <a:tr h="601156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1CA1A4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8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B0F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7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1CA1A4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9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表格8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2638513" y="4365104"/>
          <a:ext cx="1803468" cy="180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156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601156">
                  <a:extLst>
                    <a:ext uri="{9D8B030D-6E8A-4147-A177-3AD203B41FA5}">
                      <a16:colId xmlns:a16="http://schemas.microsoft.com/office/drawing/2014/main" val="2150008939"/>
                    </a:ext>
                  </a:extLst>
                </a:gridCol>
                <a:gridCol w="601156">
                  <a:extLst>
                    <a:ext uri="{9D8B030D-6E8A-4147-A177-3AD203B41FA5}">
                      <a16:colId xmlns:a16="http://schemas.microsoft.com/office/drawing/2014/main" val="2485012889"/>
                    </a:ext>
                  </a:extLst>
                </a:gridCol>
              </a:tblGrid>
              <a:tr h="601156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B0F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7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9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B0F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8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表格9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4446478" y="4365104"/>
          <a:ext cx="1801260" cy="1803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42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995541504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2777019333"/>
                    </a:ext>
                  </a:extLst>
                </a:gridCol>
              </a:tblGrid>
              <a:tr h="601156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B0F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B0F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8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952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9</a:t>
                      </a:r>
                    </a:p>
                  </a:txBody>
                  <a:tcPr anchor="ctr">
                    <a:lnL w="2857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7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952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3900"/>
                        </a:lnSpc>
                      </a:pPr>
                      <a:r>
                        <a:rPr lang="zh-CN" altLang="en-US" sz="33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</a:p>
                  </a:txBody>
                  <a:tcPr anchor="ctr">
                    <a:lnL w="9525" cap="flat">
                      <a:solidFill>
                        <a:srgbClr val="F8A23D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F8A23D">
                          <a:alpha val="100000"/>
                        </a:srgbClr>
                      </a:solidFill>
                    </a:lnR>
                    <a:lnT w="9525" cap="flat">
                      <a:solidFill>
                        <a:srgbClr val="F8A23D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F8A23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3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5248" y="908720"/>
            <a:ext cx="396274" cy="388654"/>
          </a:xfrm>
          <a:prstGeom prst="rect">
            <a:avLst/>
          </a:prstGeom>
        </p:spPr>
      </p:pic>
      <p:pic>
        <p:nvPicPr>
          <p:cNvPr id="14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6637" y="908720"/>
            <a:ext cx="396274" cy="388654"/>
          </a:xfrm>
          <a:prstGeom prst="rect">
            <a:avLst/>
          </a:prstGeom>
        </p:spPr>
      </p:pic>
      <p:pic>
        <p:nvPicPr>
          <p:cNvPr id="15" name="图片4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2" y="2060848"/>
            <a:ext cx="396274" cy="388654"/>
          </a:xfrm>
          <a:prstGeom prst="rect">
            <a:avLst/>
          </a:prstGeom>
        </p:spPr>
      </p:pic>
      <p:pic>
        <p:nvPicPr>
          <p:cNvPr id="16" name="图片5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2528" y="2060848"/>
            <a:ext cx="396274" cy="388654"/>
          </a:xfrm>
          <a:prstGeom prst="rect">
            <a:avLst/>
          </a:prstGeom>
        </p:spPr>
      </p:pic>
      <p:pic>
        <p:nvPicPr>
          <p:cNvPr id="17" name="图片6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909" y="2666460"/>
            <a:ext cx="396274" cy="388654"/>
          </a:xfrm>
          <a:prstGeom prst="rect">
            <a:avLst/>
          </a:prstGeom>
        </p:spPr>
      </p:pic>
      <p:pic>
        <p:nvPicPr>
          <p:cNvPr id="18" name="图片7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148" y="2666460"/>
            <a:ext cx="396274" cy="388654"/>
          </a:xfrm>
          <a:prstGeom prst="rect">
            <a:avLst/>
          </a:prstGeom>
        </p:spPr>
      </p:pic>
      <p:pic>
        <p:nvPicPr>
          <p:cNvPr id="19" name="图片8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148" y="3878162"/>
            <a:ext cx="396274" cy="388654"/>
          </a:xfrm>
          <a:prstGeom prst="rect">
            <a:avLst/>
          </a:prstGeom>
        </p:spPr>
      </p:pic>
      <p:pic>
        <p:nvPicPr>
          <p:cNvPr id="20" name="图片9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381" y="3878162"/>
            <a:ext cx="396274" cy="388654"/>
          </a:xfrm>
          <a:prstGeom prst="rect">
            <a:avLst/>
          </a:prstGeom>
        </p:spPr>
      </p:pic>
      <p:pic>
        <p:nvPicPr>
          <p:cNvPr id="21" name="图片10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103" y="5676649"/>
            <a:ext cx="396274" cy="388654"/>
          </a:xfrm>
          <a:prstGeom prst="rect">
            <a:avLst/>
          </a:prstGeom>
        </p:spPr>
      </p:pic>
      <p:pic>
        <p:nvPicPr>
          <p:cNvPr id="22" name="图片1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289" y="5676649"/>
            <a:ext cx="396274" cy="388654"/>
          </a:xfrm>
          <a:prstGeom prst="rect">
            <a:avLst/>
          </a:prstGeom>
        </p:spPr>
      </p:pic>
      <p:sp>
        <p:nvSpPr>
          <p:cNvPr id="23" name="文本1"/>
          <p:cNvSpPr txBox="1"/>
          <p:nvPr/>
        </p:nvSpPr>
        <p:spPr>
          <a:xfrm>
            <a:off x="6390804" y="1723286"/>
            <a:ext cx="5004454" cy="836831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300"/>
              </a:lnSpc>
            </a:pPr>
            <a:r>
              <a:rPr lang="zh-CN" altLang="en-US" sz="3600" b="0" i="0" dirty="0">
                <a:solidFill>
                  <a:srgbClr val="F00C08">
                    <a:alpha val="100000"/>
                  </a:srgbClr>
                </a:solidFill>
                <a:latin typeface="黑体"/>
                <a:ea typeface="黑体"/>
              </a:rPr>
              <a:t>找空格最少的行。</a:t>
            </a:r>
          </a:p>
        </p:txBody>
      </p:sp>
      <p:sp>
        <p:nvSpPr>
          <p:cNvPr id="24" name="文本2"/>
          <p:cNvSpPr txBox="1"/>
          <p:nvPr/>
        </p:nvSpPr>
        <p:spPr>
          <a:xfrm>
            <a:off x="6390804" y="2503400"/>
            <a:ext cx="5004454" cy="836831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300"/>
              </a:lnSpc>
            </a:pPr>
            <a:r>
              <a:rPr lang="zh-CN" altLang="en-US" sz="3600" b="0" i="0" dirty="0">
                <a:solidFill>
                  <a:srgbClr val="3333CC">
                    <a:alpha val="100000"/>
                  </a:srgbClr>
                </a:solidFill>
                <a:latin typeface="黑体"/>
                <a:ea typeface="黑体"/>
              </a:rPr>
              <a:t>找空格最少的列。</a:t>
            </a:r>
          </a:p>
        </p:txBody>
      </p:sp>
      <p:pic>
        <p:nvPicPr>
          <p:cNvPr id="25" name="图片1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4539" y="1485273"/>
            <a:ext cx="396274" cy="388654"/>
          </a:xfrm>
          <a:prstGeom prst="rect">
            <a:avLst/>
          </a:prstGeom>
        </p:spPr>
      </p:pic>
      <p:pic>
        <p:nvPicPr>
          <p:cNvPr id="26" name="图片1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8212" y="4456920"/>
            <a:ext cx="396274" cy="388654"/>
          </a:xfrm>
          <a:prstGeom prst="rect">
            <a:avLst/>
          </a:prstGeom>
        </p:spPr>
      </p:pic>
      <p:pic>
        <p:nvPicPr>
          <p:cNvPr id="27" name="图片14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2287" y="5072511"/>
            <a:ext cx="396274" cy="388654"/>
          </a:xfrm>
          <a:prstGeom prst="rect">
            <a:avLst/>
          </a:prstGeom>
        </p:spPr>
      </p:pic>
      <p:pic>
        <p:nvPicPr>
          <p:cNvPr id="28" name="图片15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2110" y="4488984"/>
            <a:ext cx="396274" cy="388654"/>
          </a:xfrm>
          <a:prstGeom prst="rect">
            <a:avLst/>
          </a:prstGeom>
        </p:spPr>
      </p:pic>
      <p:pic>
        <p:nvPicPr>
          <p:cNvPr id="29" name="图片16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2110" y="3267939"/>
            <a:ext cx="396274" cy="388654"/>
          </a:xfrm>
          <a:prstGeom prst="rect">
            <a:avLst/>
          </a:prstGeom>
        </p:spPr>
      </p:pic>
      <p:pic>
        <p:nvPicPr>
          <p:cNvPr id="30" name="图片17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171" y="1515779"/>
            <a:ext cx="396274" cy="388654"/>
          </a:xfrm>
          <a:prstGeom prst="rect">
            <a:avLst/>
          </a:prstGeom>
        </p:spPr>
      </p:pic>
      <p:pic>
        <p:nvPicPr>
          <p:cNvPr id="31" name="图片18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822" y="1462263"/>
            <a:ext cx="396274" cy="388654"/>
          </a:xfrm>
          <a:prstGeom prst="rect">
            <a:avLst/>
          </a:prstGeom>
        </p:spPr>
      </p:pic>
      <p:pic>
        <p:nvPicPr>
          <p:cNvPr id="32" name="图片19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618" y="4475867"/>
            <a:ext cx="396274" cy="388654"/>
          </a:xfrm>
          <a:prstGeom prst="rect">
            <a:avLst/>
          </a:prstGeom>
        </p:spPr>
      </p:pic>
      <p:sp>
        <p:nvSpPr>
          <p:cNvPr id="33" name="文本3"/>
          <p:cNvSpPr txBox="1"/>
          <p:nvPr/>
        </p:nvSpPr>
        <p:spPr>
          <a:xfrm>
            <a:off x="6390804" y="3283514"/>
            <a:ext cx="5724534" cy="836831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300"/>
              </a:lnSpc>
            </a:pPr>
            <a:r>
              <a:rPr lang="zh-CN" altLang="en-US" sz="3600" b="0" i="0" dirty="0">
                <a:solidFill>
                  <a:srgbClr val="FF00FF">
                    <a:alpha val="100000"/>
                  </a:srgbClr>
                </a:solidFill>
                <a:latin typeface="黑体"/>
                <a:ea typeface="黑体"/>
              </a:rPr>
              <a:t>找空格最少的</a:t>
            </a:r>
            <a:r>
              <a:rPr lang="zh-CN" altLang="en-US" sz="3600" b="1" i="0" dirty="0">
                <a:solidFill>
                  <a:srgbClr val="FF00FF">
                    <a:alpha val="100000"/>
                  </a:srgbClr>
                </a:solidFill>
                <a:latin typeface="Times New Roman"/>
                <a:ea typeface="Times New Roman"/>
              </a:rPr>
              <a:t>3</a:t>
            </a:r>
            <a:r>
              <a:rPr lang="zh-CN" altLang="en-US" sz="3600" b="1" i="0" dirty="0">
                <a:solidFill>
                  <a:srgbClr val="FF00FF">
                    <a:alpha val="100000"/>
                  </a:srgbClr>
                </a:solidFill>
                <a:latin typeface="黑体"/>
                <a:ea typeface="黑体"/>
              </a:rPr>
              <a:t>×</a:t>
            </a:r>
            <a:r>
              <a:rPr lang="zh-CN" altLang="en-US" sz="3600" b="1" i="0" dirty="0">
                <a:solidFill>
                  <a:srgbClr val="FF00FF">
                    <a:alpha val="100000"/>
                  </a:srgbClr>
                </a:solidFill>
                <a:latin typeface="Times New Roman"/>
                <a:ea typeface="Times New Roman"/>
              </a:rPr>
              <a:t>3</a:t>
            </a:r>
            <a:r>
              <a:rPr lang="zh-CN" altLang="en-US" sz="3600" b="0" i="0" dirty="0">
                <a:solidFill>
                  <a:srgbClr val="FF00FF">
                    <a:alpha val="100000"/>
                  </a:srgbClr>
                </a:solidFill>
                <a:latin typeface="黑体"/>
                <a:ea typeface="黑体"/>
              </a:rPr>
              <a:t>格子。</a:t>
            </a:r>
          </a:p>
        </p:txBody>
      </p:sp>
      <p:pic>
        <p:nvPicPr>
          <p:cNvPr id="34" name="图片20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532" y="3273391"/>
            <a:ext cx="396274" cy="388654"/>
          </a:xfrm>
          <a:prstGeom prst="rect">
            <a:avLst/>
          </a:prstGeom>
        </p:spPr>
      </p:pic>
      <p:pic>
        <p:nvPicPr>
          <p:cNvPr id="35" name="图片2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532" y="5058798"/>
            <a:ext cx="396274" cy="388654"/>
          </a:xfrm>
          <a:prstGeom prst="rect">
            <a:avLst/>
          </a:prstGeom>
        </p:spPr>
      </p:pic>
      <p:sp>
        <p:nvSpPr>
          <p:cNvPr id="36" name="文本4"/>
          <p:cNvSpPr txBox="1"/>
          <p:nvPr/>
        </p:nvSpPr>
        <p:spPr>
          <a:xfrm>
            <a:off x="6390804" y="4063628"/>
            <a:ext cx="4212366" cy="836831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300"/>
              </a:lnSpc>
            </a:pPr>
            <a:r>
              <a:rPr lang="zh-CN" altLang="en-US" sz="3600" b="0" i="0" dirty="0">
                <a:solidFill>
                  <a:srgbClr val="1CA1A4">
                    <a:alpha val="100000"/>
                  </a:srgbClr>
                </a:solidFill>
                <a:latin typeface="黑体"/>
                <a:ea typeface="黑体"/>
              </a:rPr>
              <a:t>剩下的补充完整。</a:t>
            </a:r>
          </a:p>
        </p:txBody>
      </p:sp>
      <p:pic>
        <p:nvPicPr>
          <p:cNvPr id="37" name="图片2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24" y="1508204"/>
            <a:ext cx="421815" cy="388654"/>
          </a:xfrm>
          <a:prstGeom prst="rect">
            <a:avLst/>
          </a:prstGeom>
        </p:spPr>
      </p:pic>
      <p:pic>
        <p:nvPicPr>
          <p:cNvPr id="38" name="图片2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2" y="3263274"/>
            <a:ext cx="396274" cy="388654"/>
          </a:xfrm>
          <a:prstGeom prst="rect">
            <a:avLst/>
          </a:prstGeom>
        </p:spPr>
      </p:pic>
      <p:pic>
        <p:nvPicPr>
          <p:cNvPr id="39" name="图片24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722" y="3263274"/>
            <a:ext cx="396274" cy="388654"/>
          </a:xfrm>
          <a:prstGeom prst="rect">
            <a:avLst/>
          </a:prstGeom>
        </p:spPr>
      </p:pic>
      <p:pic>
        <p:nvPicPr>
          <p:cNvPr id="40" name="图片25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722" y="5072511"/>
            <a:ext cx="396274" cy="388654"/>
          </a:xfrm>
          <a:prstGeom prst="rect">
            <a:avLst/>
          </a:prstGeom>
        </p:spPr>
      </p:pic>
      <p:pic>
        <p:nvPicPr>
          <p:cNvPr id="41" name="图片26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2" y="4461734"/>
            <a:ext cx="396274" cy="38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12" dur="1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15" dur="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18" dur="1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21" dur="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24" dur="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27" dur="1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30" dur="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33" dur="1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36" dur="1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39" dur="1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49" dur="1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52" dur="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55" dur="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58" dur="1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61" dur="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64" dur="1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67" dur="1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70" dur="1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73" dur="1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76" dur="1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86" dur="1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96" dur="1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99" dur="1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102" dur="1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105" dur="1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0" y="4233"/>
            <a:ext cx="12192000" cy="6858000"/>
          </a:xfrm>
          <a:prstGeom prst="rect">
            <a:avLst/>
          </a:prstGeom>
          <a:solidFill>
            <a:srgbClr val="22C0C4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  <a:endParaRPr/>
          </a:p>
        </p:txBody>
      </p:sp>
      <p:pic>
        <p:nvPicPr>
          <p:cNvPr id="3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2" y="-162984"/>
            <a:ext cx="12323233" cy="7217835"/>
          </a:xfrm>
          <a:prstGeom prst="rect">
            <a:avLst/>
          </a:prstGeom>
        </p:spPr>
      </p:pic>
      <p:grpSp>
        <p:nvGrpSpPr>
          <p:cNvPr id="4" name="组合1"/>
          <p:cNvGrpSpPr/>
          <p:nvPr/>
        </p:nvGrpSpPr>
        <p:grpSpPr>
          <a:xfrm>
            <a:off x="4578574" y="165857"/>
            <a:ext cx="3034853" cy="814871"/>
            <a:chOff x="0" y="0"/>
            <a:chExt cx="3034853" cy="814871"/>
          </a:xfrm>
        </p:grpSpPr>
        <p:sp>
          <p:nvSpPr>
            <p:cNvPr id="5" name="形状3"/>
            <p:cNvSpPr txBox="1"/>
            <p:nvPr/>
          </p:nvSpPr>
          <p:spPr>
            <a:xfrm>
              <a:off x="47698" y="0"/>
              <a:ext cx="2987155" cy="765515"/>
            </a:xfrm>
            <a:prstGeom prst="rect">
              <a:avLst/>
            </a:prstGeom>
            <a:solidFill>
              <a:srgbClr val="118A8D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  <p:sp>
          <p:nvSpPr>
            <p:cNvPr id="6" name="形状4"/>
            <p:cNvSpPr txBox="1"/>
            <p:nvPr/>
          </p:nvSpPr>
          <p:spPr>
            <a:xfrm>
              <a:off x="0" y="49356"/>
              <a:ext cx="2987155" cy="7655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118A8D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</p:grpSp>
      <p:pic>
        <p:nvPicPr>
          <p:cNvPr id="7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628928">
            <a:off x="6842525" y="-97654"/>
            <a:ext cx="1056178" cy="1069464"/>
          </a:xfrm>
          <a:prstGeom prst="rect">
            <a:avLst/>
          </a:prstGeom>
        </p:spPr>
      </p:pic>
      <p:sp>
        <p:nvSpPr>
          <p:cNvPr id="8" name="形状2"/>
          <p:cNvSpPr txBox="1"/>
          <p:nvPr/>
        </p:nvSpPr>
        <p:spPr>
          <a:xfrm>
            <a:off x="4937691" y="918568"/>
            <a:ext cx="2316619" cy="1905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CAD7D7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  <a:endParaRPr/>
          </a:p>
        </p:txBody>
      </p:sp>
      <p:sp>
        <p:nvSpPr>
          <p:cNvPr id="9" name="文本1"/>
          <p:cNvSpPr txBox="1"/>
          <p:nvPr/>
        </p:nvSpPr>
        <p:spPr>
          <a:xfrm>
            <a:off x="639038" y="1003206"/>
            <a:ext cx="8451964" cy="836831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300"/>
              </a:lnSpc>
            </a:pPr>
            <a:r>
              <a:rPr lang="zh-CN" altLang="en-US" sz="3600" b="0" i="0" dirty="0">
                <a:solidFill>
                  <a:srgbClr val="000000">
                    <a:alpha val="100000"/>
                  </a:srgbClr>
                </a:solidFill>
                <a:latin typeface="黑体"/>
                <a:ea typeface="黑体"/>
              </a:rPr>
              <a:t>通过这节课的学习，你有什么收获？</a:t>
            </a:r>
          </a:p>
        </p:txBody>
      </p:sp>
      <p:sp>
        <p:nvSpPr>
          <p:cNvPr id="10" name="文本2"/>
          <p:cNvSpPr txBox="1"/>
          <p:nvPr/>
        </p:nvSpPr>
        <p:spPr>
          <a:xfrm>
            <a:off x="4596959" y="195449"/>
            <a:ext cx="3180963" cy="898386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4800"/>
              </a:lnSpc>
            </a:pPr>
            <a:r>
              <a:rPr lang="zh-CN" altLang="en-US" sz="40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课堂小结</a:t>
            </a:r>
          </a:p>
        </p:txBody>
      </p:sp>
      <p:graphicFrame>
        <p:nvGraphicFramePr>
          <p:cNvPr id="11" name="表格1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4656000" y="1880117"/>
          <a:ext cx="288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51670812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97131578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49162155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28575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F00C08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anchor="ctr">
                    <a:lnL w="28575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ts val="4300"/>
                        </a:lnSpc>
                      </a:pPr>
                      <a:r>
                        <a:rPr lang="zh-CN" altLang="en-US" sz="3600" b="1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anchor="ctr">
                    <a:lnL w="12700" cap="flat">
                      <a:solidFill>
                        <a:srgbClr val="000000">
                          <a:alpha val="100000"/>
                        </a:srgbClr>
                      </a:solidFill>
                    </a:lnL>
                    <a:lnR w="28575" cap="flat">
                      <a:solidFill>
                        <a:srgbClr val="000000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000000">
                          <a:alpha val="100000"/>
                        </a:srgbClr>
                      </a:solidFill>
                    </a:lnT>
                    <a:lnB w="28575" cap="flat">
                      <a:solidFill>
                        <a:srgbClr val="000000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="" xmlns:p14="http://schemas.microsoft.com/office/powerpoint/2010/main" xmlns:a16="http://schemas.microsoft.com/office/drawing/2014/main" val="2661222183"/>
                    </a:ext>
                  </a:extLst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2" name="组合2"/>
          <p:cNvGrpSpPr/>
          <p:nvPr/>
        </p:nvGrpSpPr>
        <p:grpSpPr>
          <a:xfrm>
            <a:off x="763598" y="4891638"/>
            <a:ext cx="10660994" cy="1367768"/>
            <a:chOff x="0" y="0"/>
            <a:chExt cx="10660994" cy="1367768"/>
          </a:xfrm>
        </p:grpSpPr>
        <p:sp>
          <p:nvSpPr>
            <p:cNvPr id="13" name="形状5"/>
            <p:cNvSpPr txBox="1"/>
            <p:nvPr/>
          </p:nvSpPr>
          <p:spPr>
            <a:xfrm>
              <a:off x="3810" y="49530"/>
              <a:ext cx="10657184" cy="1236044"/>
            </a:xfrm>
            <a:prstGeom prst="rect">
              <a:avLst/>
            </a:prstGeom>
            <a:solidFill>
              <a:srgbClr val="FBE5D6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  <p:sp>
          <p:nvSpPr>
            <p:cNvPr id="14" name="文本3"/>
            <p:cNvSpPr txBox="1"/>
            <p:nvPr/>
          </p:nvSpPr>
          <p:spPr>
            <a:xfrm>
              <a:off x="0" y="0"/>
              <a:ext cx="10657184" cy="1367768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4600"/>
                </a:lnSpc>
              </a:pPr>
              <a:r>
                <a:rPr lang="zh-CN" altLang="en-US" sz="3200" b="1" i="0" dirty="0">
                  <a:solidFill>
                    <a:srgbClr val="3333CC">
                      <a:alpha val="100000"/>
                    </a:srgbClr>
                  </a:solidFill>
                  <a:latin typeface="Times New Roman"/>
                  <a:ea typeface="Times New Roman"/>
                </a:rPr>
                <a:t>        </a:t>
              </a:r>
              <a:r>
                <a:rPr lang="zh-CN" altLang="en-US" sz="3200" b="1" i="0" dirty="0">
                  <a:solidFill>
                    <a:srgbClr val="3333CC">
                      <a:alpha val="100000"/>
                    </a:srgbClr>
                  </a:solidFill>
                  <a:latin typeface="楷体"/>
                  <a:ea typeface="楷体"/>
                </a:rPr>
                <a:t>可以根据方格排除数，还可以根据数排除方格。同时结合行、列、宫进行观察，可以更快地进行判断。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637</Words>
  <Application>Microsoft Office PowerPoint</Application>
  <PresentationFormat>宽屏</PresentationFormat>
  <Paragraphs>260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等线</vt:lpstr>
      <vt:lpstr>黑体</vt:lpstr>
      <vt:lpstr>楷体</vt:lpstr>
      <vt:lpstr>宋体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数独游戏</dc:title>
  <dc:creator>哦哦骑士</dc:creator>
  <cp:lastModifiedBy>zd 张</cp:lastModifiedBy>
  <cp:revision>3</cp:revision>
  <dcterms:created xsi:type="dcterms:W3CDTF">2026-05-18T08:37:09Z</dcterms:created>
  <dcterms:modified xsi:type="dcterms:W3CDTF">2026-05-19T01:29:11Z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licationName">
    <vt:lpwstr>EasiNote5</vt:lpwstr>
  </property>
  <property fmtid="{D5CDD505-2E9C-101B-9397-08002B2CF9AE}" pid="3" name="ApplicationVersion">
    <vt:lpwstr>5.2.4.9612</vt:lpwstr>
  </property>
  <property fmtid="{D5CDD505-2E9C-101B-9397-08002B2CF9AE}" pid="4" name="EasiNoteCoursewareInfo">
    <vt:lpwstr>db596b66-4bb2-461b-a209-2905b875f985:20</vt:lpwstr>
  </property>
  <property fmtid="{D5CDD505-2E9C-101B-9397-08002B2CF9AE}" pid="5" name="EasiNoteDocumentName">
    <vt:lpwstr>数独游戏</vt:lpwstr>
  </property>
  <property fmtid="{D5CDD505-2E9C-101B-9397-08002B2CF9AE}" pid="6" name="EasiNoteAuthor">
    <vt:lpwstr>wjmurrxsluywrkipsvopls4415715781</vt:lpwstr>
  </property>
  <property fmtid="{D5CDD505-2E9C-101B-9397-08002B2CF9AE}" pid="7" name="EasiNoteUpstreamCoursewareInfo_0">
    <vt:lpwstr>db596b66-4bb2-461b-a209-2905b875f985</vt:lpwstr>
  </property>
</Properties>
</file>